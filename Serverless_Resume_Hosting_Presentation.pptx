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72e5601-eb86-314d-925d-3c7c2b2e1c84}">
          <p14:sldIdLst>
            <p14:sldId id="256"/>
          </p14:sldIdLst>
        </p14:section>
        <p14:section name="Background" id="{127e2fd1-b830-8fea-306a-6e7103cf3193}">
          <p14:sldIdLst>
            <p14:sldId id="257"/>
            <p14:sldId id="258"/>
          </p14:sldIdLst>
        </p14:section>
        <p14:section name="Solution" id="{d260ffae-0ea4-f05b-abea-1a1aff7ebb45}">
          <p14:sldIdLst>
            <p14:sldId id="259"/>
            <p14:sldId id="260"/>
          </p14:sldIdLst>
        </p14:section>
        <p14:section name="Implementation" id="{4db66355-3d97-9f97-d36a-d22bf4497049}">
          <p14:sldIdLst>
            <p14:sldId id="261"/>
            <p14:sldId id="262"/>
            <p14:sldId id="263"/>
          </p14:sldIdLst>
        </p14:section>
        <p14:section name="Results" id="{bdc6aa59-9114-4bdd-263b-e29e4a5fdb66}">
          <p14:sldIdLst>
            <p14:sldId id="264"/>
          </p14:sldIdLst>
        </p14:section>
        <p14:section name="Closing" id="{03aee3b6-9af9-4c87-ec10-05b72843d864}">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hosts a resume online without maintaining any server, using Amazon S3, AWS Lambda, API Gateway and IAM. It was built during my summer internship at Fantasy Solution, Trichy.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 computing delivers storage and processing over the internet, so there is no physical infrastructure to buy or maintain. The left side lists what the internship aimed to teach; the right side lists what the project itself set out to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Fantasy Solution is a Trichy-based IT solutions provider offering software development, web design, web hosting and IT training, with a focus on real-time project experience for students. The 30 days moved from cloud basics, to EC2 and S3, to Lambda and API Gateway, then to building and testing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hosting needs a server that stays on, must be scaled by hand and has to be secured and maintained. The serverless approach hands that work to AWS. The trade-offs are dependence on AWS, the need for internet access, configuration complexity and the need to watch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visitor reaches the site through Route 53 and CloudFront, which serves the static pages from S3 over HTTPS using an ACM certificate. When the page needs backend logic, such as the visitor counter or contact form, it calls API Gateway, which invokes Lambda, which reads and writes DynamoDB. GitHub and CodePipeline automate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is split into six modules: IAM-based access control, S3 resume storage, Lambda processing, API Gateway management, static website hosting, and access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Upload: the file is validated, stored as an S3 object, its metadata is recorded and the user gets a confirmation. Retrieval: the frontend calls API Gateway, which invokes Lambda; Lambda verifies access, fetches the object from S3 and returns it through API Gateway.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retrieval Lambda reads resume.pdf from the S3 bucket and returns it base64-encoded, or a 500 error if it fails. A simple health-check Lambda confirms the system works, and the frontend calls the API Gateway URL with fetch.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views of the finished system: home, resume, skills, projects, visitor counter, contact page, and the AWS dashboard showing the S3 bucket, CloudFront distribution, Lambda function and DynamoDB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analysis covered storage, serverless compute, API communication, security, scalability, availability and cost. The project gave practical experience of deploying a serverless web application on AWS. Future work includes two-factor authentication, role-based access control, audit logs, anomaly detection and automatic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5303520" cy="164592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606040"/>
            <a:ext cx="5303520" cy="457200"/>
          </a:xfrm>
          <a:prstGeom prst="rect">
            <a:avLst/>
          </a:prstGeom>
          <a:noFill/>
          <a:ln/>
        </p:spPr>
        <p:txBody>
          <a:bodyPr wrap="square" rtlCol="0"/>
          <a:lstStyle>
            <a:lvl1pPr algn="l" indent="0" marL="0">
              <a:buNone/>
              <a:defRPr lang="en-US" sz="1800" dirty="0">
                <a:solidFill>
                  <a:schemeClr val="accent1"/>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5303520" cy="1645920"/>
          </a:xfrm>
          <a:prstGeom prst="rect">
            <a:avLst/>
          </a:prstGeom>
          <a:noFill/>
          <a:ln/>
        </p:spPr>
        <p:txBody>
          <a:bodyPr wrap="square" lIns="0" tIns="0" rIns="0" bIns="0" rtlCol="0" anchor="b"/>
          <a:lstStyle/>
          <a:p>
            <a:pPr algn="l" indent="0" marL="0">
              <a:buNone/>
            </a:pPr>
            <a:r>
              <a:rPr lang="en-US" sz="4000" b="1" dirty="0">
                <a:solidFill>
                  <a:schemeClr val="bg1"/>
                </a:solidFill>
              </a:rPr>
              <a:t>Serverless Resume Hosting System on AWS</a:t>
            </a:r>
            <a:endParaRPr lang="en-US" sz="4000" dirty="0"/>
          </a:p>
        </p:txBody>
      </p:sp>
      <p:sp>
        <p:nvSpPr>
          <p:cNvPr id="3" name="Text 0"/>
          <p:cNvSpPr/>
          <p:nvPr>
            <p:ph idx="101" type="body" hasCustomPrompt="1"/>
          </p:nvPr>
        </p:nvSpPr>
        <p:spPr>
          <a:xfrm>
            <a:off x="548640" y="2606040"/>
            <a:ext cx="5303520" cy="457200"/>
          </a:xfrm>
          <a:prstGeom prst="rect">
            <a:avLst/>
          </a:prstGeom>
          <a:noFill/>
          <a:ln/>
        </p:spPr>
        <p:txBody>
          <a:bodyPr wrap="square" lIns="0" tIns="0" rIns="0" bIns="0" rtlCol="0" anchor="t"/>
          <a:lstStyle/>
          <a:p>
            <a:pPr algn="l" indent="0" marL="0">
              <a:buNone/>
            </a:pPr>
            <a:r>
              <a:rPr lang="en-US" sz="1800" dirty="0">
                <a:solidFill>
                  <a:schemeClr val="accent1"/>
                </a:solidFill>
              </a:rPr>
              <a:t>A Summer Internship Project in Cloud Computing</a:t>
            </a:r>
            <a:endParaRPr lang="en-US" sz="1800" dirty="0"/>
          </a:p>
        </p:txBody>
      </p:sp>
      <p:sp>
        <p:nvSpPr>
          <p:cNvPr id="4" name="Author details"/>
          <p:cNvSpPr txBox="1"/>
          <p:nvPr/>
        </p:nvSpPr>
        <p:spPr>
          <a:xfrm>
            <a:off x="548640" y="3291840"/>
            <a:ext cx="5303520" cy="1188720"/>
          </a:xfrm>
          <a:prstGeom prst="rect">
            <a:avLst/>
          </a:prstGeom>
          <a:noFill/>
          <a:ln/>
        </p:spPr>
        <p:txBody>
          <a:bodyPr wrap="square" lIns="0" tIns="0" rIns="0" bIns="0" rtlCol="0" anchor="t"/>
          <a:lstStyle/>
          <a:p>
            <a:pPr algn="l" indent="0" marL="0">
              <a:spcAft>
                <a:spcPts val="400"/>
              </a:spcAft>
              <a:buNone/>
            </a:pPr>
            <a:r>
              <a:rPr lang="en-US" sz="1400" b="1" dirty="0">
                <a:solidFill>
                  <a:schemeClr val="accent6"/>
                </a:solidFill>
              </a:rPr>
              <a:t>Janaranjani M (810023205097)</a:t>
            </a:r>
            <a:endParaRPr lang="en-US" sz="1400" dirty="0"/>
          </a:p>
          <a:p>
            <a:pPr algn="l" indent="0" marL="0">
              <a:spcAft>
                <a:spcPts val="400"/>
              </a:spcAft>
              <a:buNone/>
            </a:pPr>
            <a:r>
              <a:rPr lang="en-US" sz="1400" dirty="0">
                <a:solidFill>
                  <a:schemeClr val="accent6"/>
                </a:solidFill>
              </a:rPr>
              <a:t>B.Tech Information Technology, University College of Engineering (BIT Campus), Anna University, Tiruchirappalli</a:t>
            </a:r>
            <a:endParaRPr lang="en-US" sz="1400" dirty="0"/>
          </a:p>
          <a:p>
            <a:pPr algn="l" indent="0" marL="0">
              <a:spcAft>
                <a:spcPts val="400"/>
              </a:spcAft>
              <a:buNone/>
            </a:pPr>
            <a:r>
              <a:rPr lang="en-US" sz="1400" dirty="0">
                <a:solidFill>
                  <a:schemeClr val="accent6"/>
                </a:solidFill>
              </a:rPr>
              <a:t>Internship at Fantasy Solution, Trichy</a:t>
            </a:r>
            <a:endParaRPr lang="en-US" sz="1400" dirty="0"/>
          </a:p>
        </p:txBody>
      </p:sp>
      <p:sp>
        <p:nvSpPr>
          <p:cNvPr id="5" name="Hero circle"/>
          <p:cNvSpPr/>
          <p:nvPr/>
        </p:nvSpPr>
        <p:spPr>
          <a:xfrm>
            <a:off x="6309360" y="914400"/>
            <a:ext cx="2377440" cy="2377440"/>
          </a:xfrm>
          <a:prstGeom prst="ellipse">
            <a:avLst/>
          </a:prstGeom>
          <a:solidFill>
            <a:schemeClr val="accent1"/>
          </a:solidFill>
          <a:ln w="12700">
            <a:solidFill>
              <a:schemeClr val="accent1"/>
            </a:solidFill>
            <a:prstDash val="solid"/>
          </a:ln>
        </p:spPr>
      </p:sp>
      <p:pic>
        <p:nvPicPr>
          <p:cNvPr id="6" name="Hero icon" descr="Cloud icon">    </p:cNvPr>
          <p:cNvPicPr>
            <a:picLocks noChangeAspect="1"/>
          </p:cNvPicPr>
          <p:nvPr/>
        </p:nvPicPr>
        <p:blipFill>
          <a:blip r:embed="rId1"/>
          <a:stretch>
            <a:fillRect/>
          </a:stretch>
        </p:blipFill>
        <p:spPr>
          <a:xfrm>
            <a:off x="6949440" y="1554480"/>
            <a:ext cx="1097280" cy="1097280"/>
          </a:xfrm>
          <a:prstGeom prst="rect">
            <a:avLst/>
          </a:prstGeom>
        </p:spPr>
      </p:pic>
      <p:sp>
        <p:nvSpPr>
          <p:cNvPr id="7" name="Services line"/>
          <p:cNvSpPr txBox="1"/>
          <p:nvPr/>
        </p:nvSpPr>
        <p:spPr>
          <a:xfrm>
            <a:off x="5943600" y="3611880"/>
            <a:ext cx="3108960" cy="365760"/>
          </a:xfrm>
          <a:prstGeom prst="rect">
            <a:avLst/>
          </a:prstGeom>
          <a:noFill/>
          <a:ln/>
        </p:spPr>
        <p:txBody>
          <a:bodyPr wrap="square" lIns="0" tIns="0" rIns="0" bIns="0" rtlCol="0" anchor="ctr"/>
          <a:lstStyle/>
          <a:p>
            <a:pPr algn="ctr" indent="0" marL="0">
              <a:buNone/>
            </a:pPr>
            <a:r>
              <a:rPr lang="en-US" sz="1400" b="1" dirty="0">
                <a:solidFill>
                  <a:schemeClr val="accent1"/>
                </a:solidFill>
              </a:rPr>
              <a:t>S3  •  Lambda  •  API Gateway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Introduction &amp; Objectives</a:t>
            </a:r>
            <a:endParaRPr lang="en-US" sz="3600" dirty="0"/>
          </a:p>
        </p:txBody>
      </p:sp>
      <p:sp>
        <p:nvSpPr>
          <p:cNvPr id="3" name="Internship panel"/>
          <p:cNvSpPr/>
          <p:nvPr/>
        </p:nvSpPr>
        <p:spPr>
          <a:xfrm>
            <a:off x="457200" y="1188720"/>
            <a:ext cx="3474720" cy="3383280"/>
          </a:xfrm>
          <a:prstGeom prst="roundRect">
            <a:avLst>
              <a:gd name="adj" fmla="val 2703"/>
            </a:avLst>
          </a:prstGeom>
          <a:solidFill>
            <a:schemeClr val="accent1"/>
          </a:solidFill>
          <a:ln w="12700">
            <a:solidFill>
              <a:schemeClr val="accent1"/>
            </a:solidFill>
            <a:prstDash val="solid"/>
          </a:ln>
        </p:spPr>
      </p:sp>
      <p:sp>
        <p:nvSpPr>
          <p:cNvPr id="4" name="Internship heading"/>
          <p:cNvSpPr txBox="1"/>
          <p:nvPr/>
        </p:nvSpPr>
        <p:spPr>
          <a:xfrm>
            <a:off x="731520" y="1371600"/>
            <a:ext cx="2926080" cy="365760"/>
          </a:xfrm>
          <a:prstGeom prst="rect">
            <a:avLst/>
          </a:prstGeom>
          <a:noFill/>
          <a:ln/>
        </p:spPr>
        <p:txBody>
          <a:bodyPr wrap="square" lIns="0" tIns="0" rIns="0" bIns="0" rtlCol="0" anchor="ctr"/>
          <a:lstStyle/>
          <a:p>
            <a:pPr indent="0" marL="0">
              <a:buNone/>
            </a:pPr>
            <a:r>
              <a:rPr lang="en-US" sz="2000" b="1" dirty="0">
                <a:solidFill>
                  <a:schemeClr val="tx1"/>
                </a:solidFill>
              </a:rPr>
              <a:t>Internship objectives</a:t>
            </a:r>
            <a:endParaRPr lang="en-US" sz="2000" dirty="0"/>
          </a:p>
        </p:txBody>
      </p:sp>
      <p:sp>
        <p:nvSpPr>
          <p:cNvPr id="5" name="Internship list"/>
          <p:cNvSpPr txBox="1"/>
          <p:nvPr/>
        </p:nvSpPr>
        <p:spPr>
          <a:xfrm>
            <a:off x="731520" y="1874520"/>
            <a:ext cx="2926080"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Understand cloud computing fundamentals</a:t>
            </a:r>
            <a:endParaRPr lang="en-US" sz="1400" dirty="0"/>
          </a:p>
          <a:p>
            <a:pPr marL="342900" indent="-342900">
              <a:spcAft>
                <a:spcPts val="600"/>
              </a:spcAft>
              <a:buSzPct val="100000"/>
              <a:buChar char="•"/>
            </a:pPr>
            <a:r>
              <a:rPr lang="en-US" sz="1400" dirty="0">
                <a:solidFill>
                  <a:schemeClr val="tx1"/>
                </a:solidFill>
              </a:rPr>
              <a:t>Gain practical AWS knowledge</a:t>
            </a:r>
            <a:endParaRPr lang="en-US" sz="1400" dirty="0"/>
          </a:p>
          <a:p>
            <a:pPr marL="342900" indent="-342900">
              <a:spcAft>
                <a:spcPts val="600"/>
              </a:spcAft>
              <a:buSzPct val="100000"/>
              <a:buChar char="•"/>
            </a:pPr>
            <a:r>
              <a:rPr lang="en-US" sz="1400" dirty="0">
                <a:solidFill>
                  <a:schemeClr val="tx1"/>
                </a:solidFill>
              </a:rPr>
              <a:t>Learn EC2, S3, IAM, Lambda and API Gateway</a:t>
            </a:r>
            <a:endParaRPr lang="en-US" sz="1400" dirty="0"/>
          </a:p>
          <a:p>
            <a:pPr marL="342900" indent="-342900">
              <a:spcAft>
                <a:spcPts val="600"/>
              </a:spcAft>
              <a:buSzPct val="100000"/>
              <a:buChar char="•"/>
            </a:pPr>
            <a:r>
              <a:rPr lang="en-US" sz="1400" dirty="0">
                <a:solidFill>
                  <a:schemeClr val="tx1"/>
                </a:solidFill>
              </a:rPr>
              <a:t>Deploy serverless applications</a:t>
            </a:r>
            <a:endParaRPr lang="en-US" sz="1400" dirty="0"/>
          </a:p>
          <a:p>
            <a:pPr marL="342900" indent="-342900">
              <a:spcAft>
                <a:spcPts val="600"/>
              </a:spcAft>
              <a:buSzPct val="100000"/>
              <a:buChar char="•"/>
            </a:pPr>
            <a:r>
              <a:rPr lang="en-US" sz="1400" dirty="0">
                <a:solidFill>
                  <a:schemeClr val="tx1"/>
                </a:solidFill>
              </a:rPr>
              <a:t>Manage cloud storage and resources</a:t>
            </a:r>
            <a:endParaRPr lang="en-US" sz="1400" dirty="0"/>
          </a:p>
          <a:p>
            <a:pPr marL="342900" indent="-342900">
              <a:spcAft>
                <a:spcPts val="600"/>
              </a:spcAft>
              <a:buSzPct val="100000"/>
              <a:buChar char="•"/>
            </a:pPr>
            <a:r>
              <a:rPr lang="en-US" sz="1400" dirty="0">
                <a:solidFill>
                  <a:schemeClr val="tx1"/>
                </a:solidFill>
              </a:rPr>
              <a:t>Study security, scalability and cost</a:t>
            </a:r>
            <a:endParaRPr lang="en-US" sz="1400" dirty="0"/>
          </a:p>
        </p:txBody>
      </p:sp>
      <p:sp>
        <p:nvSpPr>
          <p:cNvPr id="6" name="Project heading"/>
          <p:cNvSpPr txBox="1"/>
          <p:nvPr/>
        </p:nvSpPr>
        <p:spPr>
          <a:xfrm>
            <a:off x="4206240" y="1188720"/>
            <a:ext cx="4480560" cy="365760"/>
          </a:xfrm>
          <a:prstGeom prst="rect">
            <a:avLst/>
          </a:prstGeom>
          <a:noFill/>
          <a:ln/>
        </p:spPr>
        <p:txBody>
          <a:bodyPr wrap="square" lIns="0" tIns="0" rIns="0" bIns="0" rtlCol="0" anchor="ctr"/>
          <a:lstStyle/>
          <a:p>
            <a:pPr indent="0" marL="0">
              <a:buNone/>
            </a:pPr>
            <a:r>
              <a:rPr lang="en-US" sz="2000" b="1" dirty="0">
                <a:solidFill>
                  <a:schemeClr val="tx1"/>
                </a:solidFill>
              </a:rPr>
              <a:t>Project objectives</a:t>
            </a:r>
            <a:endParaRPr lang="en-US" sz="2000" dirty="0"/>
          </a:p>
        </p:txBody>
      </p:sp>
      <p:sp>
        <p:nvSpPr>
          <p:cNvPr id="7" name="Objective 1 card"/>
          <p:cNvSpPr/>
          <p:nvPr/>
        </p:nvSpPr>
        <p:spPr>
          <a:xfrm>
            <a:off x="4206240" y="1645920"/>
            <a:ext cx="2194560" cy="914400"/>
          </a:xfrm>
          <a:prstGeom prst="roundRect">
            <a:avLst>
              <a:gd name="adj" fmla="val 10000"/>
            </a:avLst>
          </a:prstGeom>
          <a:solidFill>
            <a:schemeClr val="bg2"/>
          </a:solidFill>
          <a:ln w="12700">
            <a:solidFill>
              <a:schemeClr val="bg2"/>
            </a:solidFill>
            <a:prstDash val="solid"/>
          </a:ln>
        </p:spPr>
      </p:sp>
      <p:sp>
        <p:nvSpPr>
          <p:cNvPr id="8" name="Objective 1 circle"/>
          <p:cNvSpPr/>
          <p:nvPr/>
        </p:nvSpPr>
        <p:spPr>
          <a:xfrm>
            <a:off x="4343400" y="1874520"/>
            <a:ext cx="457200" cy="457200"/>
          </a:xfrm>
          <a:prstGeom prst="ellipse">
            <a:avLst/>
          </a:prstGeom>
          <a:solidFill>
            <a:schemeClr val="accent1"/>
          </a:solidFill>
          <a:ln w="12700">
            <a:solidFill>
              <a:schemeClr val="accent1"/>
            </a:solidFill>
            <a:prstDash val="solid"/>
          </a:ln>
        </p:spPr>
      </p:sp>
      <p:pic>
        <p:nvPicPr>
          <p:cNvPr id="9" name="Objective 1 icon" descr="Objective 1">    </p:cNvPr>
          <p:cNvPicPr>
            <a:picLocks noChangeAspect="1"/>
          </p:cNvPicPr>
          <p:nvPr/>
        </p:nvPicPr>
        <p:blipFill>
          <a:blip r:embed="rId1"/>
          <a:stretch>
            <a:fillRect/>
          </a:stretch>
        </p:blipFill>
        <p:spPr>
          <a:xfrm>
            <a:off x="4457700" y="1988820"/>
            <a:ext cx="228600" cy="228600"/>
          </a:xfrm>
          <a:prstGeom prst="rect">
            <a:avLst/>
          </a:prstGeom>
        </p:spPr>
      </p:pic>
      <p:sp>
        <p:nvSpPr>
          <p:cNvPr id="10" name="Objective 1 text"/>
          <p:cNvSpPr txBox="1"/>
          <p:nvPr/>
        </p:nvSpPr>
        <p:spPr>
          <a:xfrm>
            <a:off x="4919472" y="1691640"/>
            <a:ext cx="1417320" cy="822960"/>
          </a:xfrm>
          <a:prstGeom prst="rect">
            <a:avLst/>
          </a:prstGeom>
          <a:noFill/>
          <a:ln/>
        </p:spPr>
        <p:txBody>
          <a:bodyPr wrap="square" lIns="0" tIns="0" rIns="0" bIns="0" rtlCol="0" anchor="ctr"/>
          <a:lstStyle/>
          <a:p>
            <a:pPr indent="0" marL="0">
              <a:buNone/>
            </a:pPr>
            <a:r>
              <a:rPr lang="en-US" sz="1400" dirty="0">
                <a:solidFill>
                  <a:schemeClr val="tx1"/>
                </a:solidFill>
              </a:rPr>
              <a:t>Serverless platform for resumes</a:t>
            </a:r>
            <a:endParaRPr lang="en-US" sz="1400" dirty="0"/>
          </a:p>
        </p:txBody>
      </p:sp>
      <p:sp>
        <p:nvSpPr>
          <p:cNvPr id="11" name="Objective 2 card"/>
          <p:cNvSpPr/>
          <p:nvPr/>
        </p:nvSpPr>
        <p:spPr>
          <a:xfrm>
            <a:off x="6492240" y="1645920"/>
            <a:ext cx="2194560" cy="914400"/>
          </a:xfrm>
          <a:prstGeom prst="roundRect">
            <a:avLst>
              <a:gd name="adj" fmla="val 10000"/>
            </a:avLst>
          </a:prstGeom>
          <a:solidFill>
            <a:schemeClr val="bg2"/>
          </a:solidFill>
          <a:ln w="12700">
            <a:solidFill>
              <a:schemeClr val="bg2"/>
            </a:solidFill>
            <a:prstDash val="solid"/>
          </a:ln>
        </p:spPr>
      </p:sp>
      <p:sp>
        <p:nvSpPr>
          <p:cNvPr id="12" name="Objective 2 circle"/>
          <p:cNvSpPr/>
          <p:nvPr/>
        </p:nvSpPr>
        <p:spPr>
          <a:xfrm>
            <a:off x="6629400" y="1874520"/>
            <a:ext cx="457200" cy="457200"/>
          </a:xfrm>
          <a:prstGeom prst="ellipse">
            <a:avLst/>
          </a:prstGeom>
          <a:solidFill>
            <a:schemeClr val="accent1"/>
          </a:solidFill>
          <a:ln w="12700">
            <a:solidFill>
              <a:schemeClr val="accent1"/>
            </a:solidFill>
            <a:prstDash val="solid"/>
          </a:ln>
        </p:spPr>
      </p:sp>
      <p:pic>
        <p:nvPicPr>
          <p:cNvPr id="13" name="Objective 2 icon" descr="Objective 2">    </p:cNvPr>
          <p:cNvPicPr>
            <a:picLocks noChangeAspect="1"/>
          </p:cNvPicPr>
          <p:nvPr/>
        </p:nvPicPr>
        <p:blipFill>
          <a:blip r:embed="rId2"/>
          <a:stretch>
            <a:fillRect/>
          </a:stretch>
        </p:blipFill>
        <p:spPr>
          <a:xfrm>
            <a:off x="6743700" y="1988820"/>
            <a:ext cx="228600" cy="228600"/>
          </a:xfrm>
          <a:prstGeom prst="rect">
            <a:avLst/>
          </a:prstGeom>
        </p:spPr>
      </p:pic>
      <p:sp>
        <p:nvSpPr>
          <p:cNvPr id="14" name="Objective 2 text"/>
          <p:cNvSpPr txBox="1"/>
          <p:nvPr/>
        </p:nvSpPr>
        <p:spPr>
          <a:xfrm>
            <a:off x="7205472" y="1691640"/>
            <a:ext cx="1417320" cy="822960"/>
          </a:xfrm>
          <a:prstGeom prst="rect">
            <a:avLst/>
          </a:prstGeom>
          <a:noFill/>
          <a:ln/>
        </p:spPr>
        <p:txBody>
          <a:bodyPr wrap="square" lIns="0" tIns="0" rIns="0" bIns="0" rtlCol="0" anchor="ctr"/>
          <a:lstStyle/>
          <a:p>
            <a:pPr indent="0" marL="0">
              <a:buNone/>
            </a:pPr>
            <a:r>
              <a:rPr lang="en-US" sz="1400" dirty="0">
                <a:solidFill>
                  <a:schemeClr val="tx1"/>
                </a:solidFill>
              </a:rPr>
              <a:t>Resume files in Amazon S3</a:t>
            </a:r>
            <a:endParaRPr lang="en-US" sz="1400" dirty="0"/>
          </a:p>
        </p:txBody>
      </p:sp>
      <p:sp>
        <p:nvSpPr>
          <p:cNvPr id="15" name="Objective 3 card"/>
          <p:cNvSpPr/>
          <p:nvPr/>
        </p:nvSpPr>
        <p:spPr>
          <a:xfrm>
            <a:off x="4206240" y="2670048"/>
            <a:ext cx="2194560" cy="914400"/>
          </a:xfrm>
          <a:prstGeom prst="roundRect">
            <a:avLst>
              <a:gd name="adj" fmla="val 10000"/>
            </a:avLst>
          </a:prstGeom>
          <a:solidFill>
            <a:schemeClr val="bg2"/>
          </a:solidFill>
          <a:ln w="12700">
            <a:solidFill>
              <a:schemeClr val="bg2"/>
            </a:solidFill>
            <a:prstDash val="solid"/>
          </a:ln>
        </p:spPr>
      </p:sp>
      <p:sp>
        <p:nvSpPr>
          <p:cNvPr id="16" name="Objective 3 circle"/>
          <p:cNvSpPr/>
          <p:nvPr/>
        </p:nvSpPr>
        <p:spPr>
          <a:xfrm>
            <a:off x="4343400" y="2898648"/>
            <a:ext cx="457200" cy="457200"/>
          </a:xfrm>
          <a:prstGeom prst="ellipse">
            <a:avLst/>
          </a:prstGeom>
          <a:solidFill>
            <a:schemeClr val="accent1"/>
          </a:solidFill>
          <a:ln w="12700">
            <a:solidFill>
              <a:schemeClr val="accent1"/>
            </a:solidFill>
            <a:prstDash val="solid"/>
          </a:ln>
        </p:spPr>
      </p:sp>
      <p:pic>
        <p:nvPicPr>
          <p:cNvPr id="17" name="Objective 3 icon" descr="Objective 3">    </p:cNvPr>
          <p:cNvPicPr>
            <a:picLocks noChangeAspect="1"/>
          </p:cNvPicPr>
          <p:nvPr/>
        </p:nvPicPr>
        <p:blipFill>
          <a:blip r:embed="rId3"/>
          <a:stretch>
            <a:fillRect/>
          </a:stretch>
        </p:blipFill>
        <p:spPr>
          <a:xfrm>
            <a:off x="4457700" y="3012948"/>
            <a:ext cx="228600" cy="228600"/>
          </a:xfrm>
          <a:prstGeom prst="rect">
            <a:avLst/>
          </a:prstGeom>
        </p:spPr>
      </p:pic>
      <p:sp>
        <p:nvSpPr>
          <p:cNvPr id="18" name="Objective 3 text"/>
          <p:cNvSpPr txBox="1"/>
          <p:nvPr/>
        </p:nvSpPr>
        <p:spPr>
          <a:xfrm>
            <a:off x="4919472" y="2715768"/>
            <a:ext cx="1417320" cy="822960"/>
          </a:xfrm>
          <a:prstGeom prst="rect">
            <a:avLst/>
          </a:prstGeom>
          <a:noFill/>
          <a:ln/>
        </p:spPr>
        <p:txBody>
          <a:bodyPr wrap="square" lIns="0" tIns="0" rIns="0" bIns="0" rtlCol="0" anchor="ctr"/>
          <a:lstStyle/>
          <a:p>
            <a:pPr indent="0" marL="0">
              <a:buNone/>
            </a:pPr>
            <a:r>
              <a:rPr lang="en-US" sz="1400" dirty="0">
                <a:solidFill>
                  <a:schemeClr val="tx1"/>
                </a:solidFill>
              </a:rPr>
              <a:t>Backend logic on AWS Lambda</a:t>
            </a:r>
            <a:endParaRPr lang="en-US" sz="1400" dirty="0"/>
          </a:p>
        </p:txBody>
      </p:sp>
      <p:sp>
        <p:nvSpPr>
          <p:cNvPr id="19" name="Objective 4 card"/>
          <p:cNvSpPr/>
          <p:nvPr/>
        </p:nvSpPr>
        <p:spPr>
          <a:xfrm>
            <a:off x="6492240" y="2670048"/>
            <a:ext cx="2194560" cy="914400"/>
          </a:xfrm>
          <a:prstGeom prst="roundRect">
            <a:avLst>
              <a:gd name="adj" fmla="val 10000"/>
            </a:avLst>
          </a:prstGeom>
          <a:solidFill>
            <a:schemeClr val="bg2"/>
          </a:solidFill>
          <a:ln w="12700">
            <a:solidFill>
              <a:schemeClr val="bg2"/>
            </a:solidFill>
            <a:prstDash val="solid"/>
          </a:ln>
        </p:spPr>
      </p:sp>
      <p:sp>
        <p:nvSpPr>
          <p:cNvPr id="20" name="Objective 4 circle"/>
          <p:cNvSpPr/>
          <p:nvPr/>
        </p:nvSpPr>
        <p:spPr>
          <a:xfrm>
            <a:off x="6629400" y="2898648"/>
            <a:ext cx="457200" cy="457200"/>
          </a:xfrm>
          <a:prstGeom prst="ellipse">
            <a:avLst/>
          </a:prstGeom>
          <a:solidFill>
            <a:schemeClr val="accent1"/>
          </a:solidFill>
          <a:ln w="12700">
            <a:solidFill>
              <a:schemeClr val="accent1"/>
            </a:solidFill>
            <a:prstDash val="solid"/>
          </a:ln>
        </p:spPr>
      </p:sp>
      <p:pic>
        <p:nvPicPr>
          <p:cNvPr id="21" name="Objective 4 icon" descr="Objective 4">    </p:cNvPr>
          <p:cNvPicPr>
            <a:picLocks noChangeAspect="1"/>
          </p:cNvPicPr>
          <p:nvPr/>
        </p:nvPicPr>
        <p:blipFill>
          <a:blip r:embed="rId4"/>
          <a:stretch>
            <a:fillRect/>
          </a:stretch>
        </p:blipFill>
        <p:spPr>
          <a:xfrm>
            <a:off x="6743700" y="3012948"/>
            <a:ext cx="228600" cy="228600"/>
          </a:xfrm>
          <a:prstGeom prst="rect">
            <a:avLst/>
          </a:prstGeom>
        </p:spPr>
      </p:pic>
      <p:sp>
        <p:nvSpPr>
          <p:cNvPr id="22" name="Objective 4 text"/>
          <p:cNvSpPr txBox="1"/>
          <p:nvPr/>
        </p:nvSpPr>
        <p:spPr>
          <a:xfrm>
            <a:off x="7205472" y="2715768"/>
            <a:ext cx="1417320" cy="822960"/>
          </a:xfrm>
          <a:prstGeom prst="rect">
            <a:avLst/>
          </a:prstGeom>
          <a:noFill/>
          <a:ln/>
        </p:spPr>
        <p:txBody>
          <a:bodyPr wrap="square" lIns="0" tIns="0" rIns="0" bIns="0" rtlCol="0" anchor="ctr"/>
          <a:lstStyle/>
          <a:p>
            <a:pPr indent="0" marL="0">
              <a:buNone/>
            </a:pPr>
            <a:r>
              <a:rPr lang="en-US" sz="1400" dirty="0">
                <a:solidFill>
                  <a:schemeClr val="tx1"/>
                </a:solidFill>
              </a:rPr>
              <a:t>Requests via API Gateway</a:t>
            </a:r>
            <a:endParaRPr lang="en-US" sz="1400" dirty="0"/>
          </a:p>
        </p:txBody>
      </p:sp>
      <p:sp>
        <p:nvSpPr>
          <p:cNvPr id="23" name="Objective 5 card"/>
          <p:cNvSpPr/>
          <p:nvPr/>
        </p:nvSpPr>
        <p:spPr>
          <a:xfrm>
            <a:off x="4206240" y="3694176"/>
            <a:ext cx="2194560" cy="914400"/>
          </a:xfrm>
          <a:prstGeom prst="roundRect">
            <a:avLst>
              <a:gd name="adj" fmla="val 10000"/>
            </a:avLst>
          </a:prstGeom>
          <a:solidFill>
            <a:schemeClr val="bg2"/>
          </a:solidFill>
          <a:ln w="12700">
            <a:solidFill>
              <a:schemeClr val="bg2"/>
            </a:solidFill>
            <a:prstDash val="solid"/>
          </a:ln>
        </p:spPr>
      </p:sp>
      <p:sp>
        <p:nvSpPr>
          <p:cNvPr id="24" name="Objective 5 circle"/>
          <p:cNvSpPr/>
          <p:nvPr/>
        </p:nvSpPr>
        <p:spPr>
          <a:xfrm>
            <a:off x="4343400" y="3922776"/>
            <a:ext cx="457200" cy="457200"/>
          </a:xfrm>
          <a:prstGeom prst="ellipse">
            <a:avLst/>
          </a:prstGeom>
          <a:solidFill>
            <a:schemeClr val="accent1"/>
          </a:solidFill>
          <a:ln w="12700">
            <a:solidFill>
              <a:schemeClr val="accent1"/>
            </a:solidFill>
            <a:prstDash val="solid"/>
          </a:ln>
        </p:spPr>
      </p:sp>
      <p:pic>
        <p:nvPicPr>
          <p:cNvPr id="25" name="Objective 5 icon" descr="Objective 5">    </p:cNvPr>
          <p:cNvPicPr>
            <a:picLocks noChangeAspect="1"/>
          </p:cNvPicPr>
          <p:nvPr/>
        </p:nvPicPr>
        <p:blipFill>
          <a:blip r:embed="rId5"/>
          <a:stretch>
            <a:fillRect/>
          </a:stretch>
        </p:blipFill>
        <p:spPr>
          <a:xfrm>
            <a:off x="4457700" y="4037076"/>
            <a:ext cx="228600" cy="228600"/>
          </a:xfrm>
          <a:prstGeom prst="rect">
            <a:avLst/>
          </a:prstGeom>
        </p:spPr>
      </p:pic>
      <p:sp>
        <p:nvSpPr>
          <p:cNvPr id="26" name="Objective 5 text"/>
          <p:cNvSpPr txBox="1"/>
          <p:nvPr/>
        </p:nvSpPr>
        <p:spPr>
          <a:xfrm>
            <a:off x="4919472" y="3739896"/>
            <a:ext cx="1417320" cy="822960"/>
          </a:xfrm>
          <a:prstGeom prst="rect">
            <a:avLst/>
          </a:prstGeom>
          <a:noFill/>
          <a:ln/>
        </p:spPr>
        <p:txBody>
          <a:bodyPr wrap="square" lIns="0" tIns="0" rIns="0" bIns="0" rtlCol="0" anchor="ctr"/>
          <a:lstStyle/>
          <a:p>
            <a:pPr indent="0" marL="0">
              <a:buNone/>
            </a:pPr>
            <a:r>
              <a:rPr lang="en-US" sz="1400" dirty="0">
                <a:solidFill>
                  <a:schemeClr val="tx1"/>
                </a:solidFill>
              </a:rPr>
              <a:t>Less server maintenance</a:t>
            </a:r>
            <a:endParaRPr lang="en-US" sz="1400" dirty="0"/>
          </a:p>
        </p:txBody>
      </p:sp>
      <p:sp>
        <p:nvSpPr>
          <p:cNvPr id="27" name="Objective 6 card"/>
          <p:cNvSpPr/>
          <p:nvPr/>
        </p:nvSpPr>
        <p:spPr>
          <a:xfrm>
            <a:off x="6492240" y="3694176"/>
            <a:ext cx="2194560" cy="914400"/>
          </a:xfrm>
          <a:prstGeom prst="roundRect">
            <a:avLst>
              <a:gd name="adj" fmla="val 10000"/>
            </a:avLst>
          </a:prstGeom>
          <a:solidFill>
            <a:schemeClr val="bg2"/>
          </a:solidFill>
          <a:ln w="12700">
            <a:solidFill>
              <a:schemeClr val="bg2"/>
            </a:solidFill>
            <a:prstDash val="solid"/>
          </a:ln>
        </p:spPr>
      </p:sp>
      <p:sp>
        <p:nvSpPr>
          <p:cNvPr id="28" name="Objective 6 circle"/>
          <p:cNvSpPr/>
          <p:nvPr/>
        </p:nvSpPr>
        <p:spPr>
          <a:xfrm>
            <a:off x="6629400" y="3922776"/>
            <a:ext cx="457200" cy="457200"/>
          </a:xfrm>
          <a:prstGeom prst="ellipse">
            <a:avLst/>
          </a:prstGeom>
          <a:solidFill>
            <a:schemeClr val="accent1"/>
          </a:solidFill>
          <a:ln w="12700">
            <a:solidFill>
              <a:schemeClr val="accent1"/>
            </a:solidFill>
            <a:prstDash val="solid"/>
          </a:ln>
        </p:spPr>
      </p:sp>
      <p:pic>
        <p:nvPicPr>
          <p:cNvPr id="29" name="Objective 6 icon" descr="Objective 6">    </p:cNvPr>
          <p:cNvPicPr>
            <a:picLocks noChangeAspect="1"/>
          </p:cNvPicPr>
          <p:nvPr/>
        </p:nvPicPr>
        <p:blipFill>
          <a:blip r:embed="rId6"/>
          <a:stretch>
            <a:fillRect/>
          </a:stretch>
        </p:blipFill>
        <p:spPr>
          <a:xfrm>
            <a:off x="6743700" y="4037076"/>
            <a:ext cx="228600" cy="228600"/>
          </a:xfrm>
          <a:prstGeom prst="rect">
            <a:avLst/>
          </a:prstGeom>
        </p:spPr>
      </p:pic>
      <p:sp>
        <p:nvSpPr>
          <p:cNvPr id="30" name="Objective 6 text"/>
          <p:cNvSpPr txBox="1"/>
          <p:nvPr/>
        </p:nvSpPr>
        <p:spPr>
          <a:xfrm>
            <a:off x="7205472" y="3739896"/>
            <a:ext cx="1417320" cy="822960"/>
          </a:xfrm>
          <a:prstGeom prst="rect">
            <a:avLst/>
          </a:prstGeom>
          <a:noFill/>
          <a:ln/>
        </p:spPr>
        <p:txBody>
          <a:bodyPr wrap="square" lIns="0" tIns="0" rIns="0" bIns="0" rtlCol="0" anchor="ctr"/>
          <a:lstStyle/>
          <a:p>
            <a:pPr indent="0" marL="0">
              <a:buNone/>
            </a:pPr>
            <a:r>
              <a:rPr lang="en-US" sz="1400" dirty="0">
                <a:solidFill>
                  <a:schemeClr val="tx1"/>
                </a:solidFill>
              </a:rPr>
              <a:t>Secure, scalable, low cost</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Company &amp; Internship Journey</a:t>
            </a:r>
            <a:endParaRPr lang="en-US" sz="3600" dirty="0"/>
          </a:p>
        </p:txBody>
      </p:sp>
      <p:sp>
        <p:nvSpPr>
          <p:cNvPr id="3" name="Company card"/>
          <p:cNvSpPr/>
          <p:nvPr/>
        </p:nvSpPr>
        <p:spPr>
          <a:xfrm>
            <a:off x="457200" y="1188720"/>
            <a:ext cx="4480560" cy="3383280"/>
          </a:xfrm>
          <a:prstGeom prst="roundRect">
            <a:avLst>
              <a:gd name="adj" fmla="val 2703"/>
            </a:avLst>
          </a:prstGeom>
          <a:solidFill>
            <a:schemeClr val="bg2"/>
          </a:solidFill>
          <a:ln w="12700">
            <a:solidFill>
              <a:schemeClr val="bg2"/>
            </a:solidFill>
            <a:prstDash val="solid"/>
          </a:ln>
        </p:spPr>
      </p:sp>
      <p:sp>
        <p:nvSpPr>
          <p:cNvPr id="4" name="Detail label 1"/>
          <p:cNvSpPr txBox="1"/>
          <p:nvPr/>
        </p:nvSpPr>
        <p:spPr>
          <a:xfrm>
            <a:off x="731520" y="1371600"/>
            <a:ext cx="4023360" cy="201168"/>
          </a:xfrm>
          <a:prstGeom prst="rect">
            <a:avLst/>
          </a:prstGeom>
          <a:noFill/>
          <a:ln/>
        </p:spPr>
        <p:txBody>
          <a:bodyPr wrap="square" lIns="0" tIns="0" rIns="0" bIns="0" rtlCol="0" anchor="ctr"/>
          <a:lstStyle/>
          <a:p>
            <a:pPr indent="0" marL="0">
              <a:buNone/>
            </a:pPr>
            <a:r>
              <a:rPr lang="en-US" sz="1100" b="1" dirty="0">
                <a:solidFill>
                  <a:schemeClr val="accent5"/>
                </a:solidFill>
              </a:rPr>
              <a:t>COMPANY</a:t>
            </a:r>
            <a:endParaRPr lang="en-US" sz="1100" dirty="0"/>
          </a:p>
        </p:txBody>
      </p:sp>
      <p:sp>
        <p:nvSpPr>
          <p:cNvPr id="5" name="Detail value 1"/>
          <p:cNvSpPr txBox="1"/>
          <p:nvPr/>
        </p:nvSpPr>
        <p:spPr>
          <a:xfrm>
            <a:off x="731520" y="1572768"/>
            <a:ext cx="4023360" cy="292608"/>
          </a:xfrm>
          <a:prstGeom prst="rect">
            <a:avLst/>
          </a:prstGeom>
          <a:noFill/>
          <a:ln/>
        </p:spPr>
        <p:txBody>
          <a:bodyPr wrap="square" lIns="0" tIns="0" rIns="0" bIns="0" rtlCol="0" anchor="ctr"/>
          <a:lstStyle/>
          <a:p>
            <a:pPr indent="0" marL="0">
              <a:buNone/>
            </a:pPr>
            <a:r>
              <a:rPr lang="en-US" sz="1400" b="1" dirty="0">
                <a:solidFill>
                  <a:schemeClr val="tx1"/>
                </a:solidFill>
              </a:rPr>
              <a:t>Fantasy Solution, Trichy</a:t>
            </a:r>
            <a:endParaRPr lang="en-US" sz="1400" dirty="0"/>
          </a:p>
        </p:txBody>
      </p:sp>
      <p:sp>
        <p:nvSpPr>
          <p:cNvPr id="6" name="Detail label 2"/>
          <p:cNvSpPr txBox="1"/>
          <p:nvPr/>
        </p:nvSpPr>
        <p:spPr>
          <a:xfrm>
            <a:off x="731520" y="1993392"/>
            <a:ext cx="4023360" cy="201168"/>
          </a:xfrm>
          <a:prstGeom prst="rect">
            <a:avLst/>
          </a:prstGeom>
          <a:noFill/>
          <a:ln/>
        </p:spPr>
        <p:txBody>
          <a:bodyPr wrap="square" lIns="0" tIns="0" rIns="0" bIns="0" rtlCol="0" anchor="ctr"/>
          <a:lstStyle/>
          <a:p>
            <a:pPr indent="0" marL="0">
              <a:buNone/>
            </a:pPr>
            <a:r>
              <a:rPr lang="en-US" sz="1100" b="1" dirty="0">
                <a:solidFill>
                  <a:schemeClr val="accent5"/>
                </a:solidFill>
              </a:rPr>
              <a:t>FOCUS</a:t>
            </a:r>
            <a:endParaRPr lang="en-US" sz="1100" dirty="0"/>
          </a:p>
        </p:txBody>
      </p:sp>
      <p:sp>
        <p:nvSpPr>
          <p:cNvPr id="7" name="Detail value 2"/>
          <p:cNvSpPr txBox="1"/>
          <p:nvPr/>
        </p:nvSpPr>
        <p:spPr>
          <a:xfrm>
            <a:off x="731520" y="2194560"/>
            <a:ext cx="4023360" cy="292608"/>
          </a:xfrm>
          <a:prstGeom prst="rect">
            <a:avLst/>
          </a:prstGeom>
          <a:noFill/>
          <a:ln/>
        </p:spPr>
        <p:txBody>
          <a:bodyPr wrap="square" lIns="0" tIns="0" rIns="0" bIns="0" rtlCol="0" anchor="ctr"/>
          <a:lstStyle/>
          <a:p>
            <a:pPr indent="0" marL="0">
              <a:buNone/>
            </a:pPr>
            <a:r>
              <a:rPr lang="en-US" sz="1400" b="1" dirty="0">
                <a:solidFill>
                  <a:schemeClr val="tx1"/>
                </a:solidFill>
              </a:rPr>
              <a:t>Software, web design, hosting, training</a:t>
            </a:r>
            <a:endParaRPr lang="en-US" sz="1400" dirty="0"/>
          </a:p>
        </p:txBody>
      </p:sp>
      <p:sp>
        <p:nvSpPr>
          <p:cNvPr id="8" name="Detail label 3"/>
          <p:cNvSpPr txBox="1"/>
          <p:nvPr/>
        </p:nvSpPr>
        <p:spPr>
          <a:xfrm>
            <a:off x="731520" y="2615184"/>
            <a:ext cx="4023360" cy="201168"/>
          </a:xfrm>
          <a:prstGeom prst="rect">
            <a:avLst/>
          </a:prstGeom>
          <a:noFill/>
          <a:ln/>
        </p:spPr>
        <p:txBody>
          <a:bodyPr wrap="square" lIns="0" tIns="0" rIns="0" bIns="0" rtlCol="0" anchor="ctr"/>
          <a:lstStyle/>
          <a:p>
            <a:pPr indent="0" marL="0">
              <a:buNone/>
            </a:pPr>
            <a:r>
              <a:rPr lang="en-US" sz="1100" b="1" dirty="0">
                <a:solidFill>
                  <a:schemeClr val="accent5"/>
                </a:solidFill>
              </a:rPr>
              <a:t>LOCATION</a:t>
            </a:r>
            <a:endParaRPr lang="en-US" sz="1100" dirty="0"/>
          </a:p>
        </p:txBody>
      </p:sp>
      <p:sp>
        <p:nvSpPr>
          <p:cNvPr id="9" name="Detail value 3"/>
          <p:cNvSpPr txBox="1"/>
          <p:nvPr/>
        </p:nvSpPr>
        <p:spPr>
          <a:xfrm>
            <a:off x="731520" y="2816352"/>
            <a:ext cx="4023360" cy="292608"/>
          </a:xfrm>
          <a:prstGeom prst="rect">
            <a:avLst/>
          </a:prstGeom>
          <a:noFill/>
          <a:ln/>
        </p:spPr>
        <p:txBody>
          <a:bodyPr wrap="square" lIns="0" tIns="0" rIns="0" bIns="0" rtlCol="0" anchor="ctr"/>
          <a:lstStyle/>
          <a:p>
            <a:pPr indent="0" marL="0">
              <a:buNone/>
            </a:pPr>
            <a:r>
              <a:rPr lang="en-US" sz="1400" b="1" dirty="0">
                <a:solidFill>
                  <a:schemeClr val="tx1"/>
                </a:solidFill>
              </a:rPr>
              <a:t>Melapudur, Trichy</a:t>
            </a:r>
            <a:endParaRPr lang="en-US" sz="1400" dirty="0"/>
          </a:p>
        </p:txBody>
      </p:sp>
      <p:sp>
        <p:nvSpPr>
          <p:cNvPr id="10" name="Detail label 4"/>
          <p:cNvSpPr txBox="1"/>
          <p:nvPr/>
        </p:nvSpPr>
        <p:spPr>
          <a:xfrm>
            <a:off x="731520" y="3236976"/>
            <a:ext cx="4023360" cy="201168"/>
          </a:xfrm>
          <a:prstGeom prst="rect">
            <a:avLst/>
          </a:prstGeom>
          <a:noFill/>
          <a:ln/>
        </p:spPr>
        <p:txBody>
          <a:bodyPr wrap="square" lIns="0" tIns="0" rIns="0" bIns="0" rtlCol="0" anchor="ctr"/>
          <a:lstStyle/>
          <a:p>
            <a:pPr indent="0" marL="0">
              <a:buNone/>
            </a:pPr>
            <a:r>
              <a:rPr lang="en-US" sz="1100" b="1" dirty="0">
                <a:solidFill>
                  <a:schemeClr val="accent5"/>
                </a:solidFill>
              </a:rPr>
              <a:t>DOMAIN</a:t>
            </a:r>
            <a:endParaRPr lang="en-US" sz="1100" dirty="0"/>
          </a:p>
        </p:txBody>
      </p:sp>
      <p:sp>
        <p:nvSpPr>
          <p:cNvPr id="11" name="Detail value 4"/>
          <p:cNvSpPr txBox="1"/>
          <p:nvPr/>
        </p:nvSpPr>
        <p:spPr>
          <a:xfrm>
            <a:off x="731520" y="3438144"/>
            <a:ext cx="4023360" cy="292608"/>
          </a:xfrm>
          <a:prstGeom prst="rect">
            <a:avLst/>
          </a:prstGeom>
          <a:noFill/>
          <a:ln/>
        </p:spPr>
        <p:txBody>
          <a:bodyPr wrap="square" lIns="0" tIns="0" rIns="0" bIns="0" rtlCol="0" anchor="ctr"/>
          <a:lstStyle/>
          <a:p>
            <a:pPr indent="0" marL="0">
              <a:buNone/>
            </a:pPr>
            <a:r>
              <a:rPr lang="en-US" sz="1400" b="1" dirty="0">
                <a:solidFill>
                  <a:schemeClr val="tx1"/>
                </a:solidFill>
              </a:rPr>
              <a:t>Cloud Computing</a:t>
            </a:r>
            <a:endParaRPr lang="en-US" sz="1400" dirty="0"/>
          </a:p>
        </p:txBody>
      </p:sp>
      <p:sp>
        <p:nvSpPr>
          <p:cNvPr id="12" name="Detail label 5"/>
          <p:cNvSpPr txBox="1"/>
          <p:nvPr/>
        </p:nvSpPr>
        <p:spPr>
          <a:xfrm>
            <a:off x="731520" y="3858768"/>
            <a:ext cx="4023360" cy="201168"/>
          </a:xfrm>
          <a:prstGeom prst="rect">
            <a:avLst/>
          </a:prstGeom>
          <a:noFill/>
          <a:ln/>
        </p:spPr>
        <p:txBody>
          <a:bodyPr wrap="square" lIns="0" tIns="0" rIns="0" bIns="0" rtlCol="0" anchor="ctr"/>
          <a:lstStyle/>
          <a:p>
            <a:pPr indent="0" marL="0">
              <a:buNone/>
            </a:pPr>
            <a:r>
              <a:rPr lang="en-US" sz="1100" b="1" dirty="0">
                <a:solidFill>
                  <a:schemeClr val="accent5"/>
                </a:solidFill>
              </a:rPr>
              <a:t>DURATION</a:t>
            </a:r>
            <a:endParaRPr lang="en-US" sz="1100" dirty="0"/>
          </a:p>
        </p:txBody>
      </p:sp>
      <p:sp>
        <p:nvSpPr>
          <p:cNvPr id="13" name="Detail value 5"/>
          <p:cNvSpPr txBox="1"/>
          <p:nvPr/>
        </p:nvSpPr>
        <p:spPr>
          <a:xfrm>
            <a:off x="731520" y="4059936"/>
            <a:ext cx="4023360" cy="292608"/>
          </a:xfrm>
          <a:prstGeom prst="rect">
            <a:avLst/>
          </a:prstGeom>
          <a:noFill/>
          <a:ln/>
        </p:spPr>
        <p:txBody>
          <a:bodyPr wrap="square" lIns="0" tIns="0" rIns="0" bIns="0" rtlCol="0" anchor="ctr"/>
          <a:lstStyle/>
          <a:p>
            <a:pPr indent="0" marL="0">
              <a:buNone/>
            </a:pPr>
            <a:r>
              <a:rPr lang="en-US" sz="1400" b="1" dirty="0">
                <a:solidFill>
                  <a:schemeClr val="tx1"/>
                </a:solidFill>
              </a:rPr>
              <a:t>15 June – 15 July 2026 (30 days)</a:t>
            </a:r>
            <a:endParaRPr lang="en-US" sz="1400" dirty="0"/>
          </a:p>
        </p:txBody>
      </p:sp>
      <p:sp>
        <p:nvSpPr>
          <p:cNvPr id="14" name="Phase 1 circle"/>
          <p:cNvSpPr/>
          <p:nvPr/>
        </p:nvSpPr>
        <p:spPr>
          <a:xfrm>
            <a:off x="5303520" y="1344168"/>
            <a:ext cx="502920" cy="502920"/>
          </a:xfrm>
          <a:prstGeom prst="ellipse">
            <a:avLst/>
          </a:prstGeom>
          <a:solidFill>
            <a:schemeClr val="accent1"/>
          </a:solidFill>
          <a:ln w="12700">
            <a:solidFill>
              <a:schemeClr val="accent1"/>
            </a:solidFill>
            <a:prstDash val="solid"/>
          </a:ln>
        </p:spPr>
      </p:sp>
      <p:sp>
        <p:nvSpPr>
          <p:cNvPr id="15" name="Phase 1 number"/>
          <p:cNvSpPr txBox="1"/>
          <p:nvPr/>
        </p:nvSpPr>
        <p:spPr>
          <a:xfrm>
            <a:off x="5303520" y="1344168"/>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16" name="Phase 1 title"/>
          <p:cNvSpPr txBox="1"/>
          <p:nvPr/>
        </p:nvSpPr>
        <p:spPr>
          <a:xfrm>
            <a:off x="5989320" y="1307592"/>
            <a:ext cx="2697480" cy="320040"/>
          </a:xfrm>
          <a:prstGeom prst="rect">
            <a:avLst/>
          </a:prstGeom>
          <a:noFill/>
          <a:ln/>
        </p:spPr>
        <p:txBody>
          <a:bodyPr wrap="square" lIns="0" tIns="0" rIns="0" bIns="0" rtlCol="0" anchor="ctr"/>
          <a:lstStyle/>
          <a:p>
            <a:pPr indent="0" marL="0">
              <a:buNone/>
            </a:pPr>
            <a:r>
              <a:rPr lang="en-US" sz="1600" b="1" dirty="0">
                <a:solidFill>
                  <a:schemeClr val="tx1"/>
                </a:solidFill>
              </a:rPr>
              <a:t>Days 1–5</a:t>
            </a:r>
            <a:endParaRPr lang="en-US" sz="1600" dirty="0"/>
          </a:p>
        </p:txBody>
      </p:sp>
      <p:sp>
        <p:nvSpPr>
          <p:cNvPr id="17" name="Phase 1 text"/>
          <p:cNvSpPr txBox="1"/>
          <p:nvPr/>
        </p:nvSpPr>
        <p:spPr>
          <a:xfrm>
            <a:off x="5989320" y="1627632"/>
            <a:ext cx="2697480" cy="320040"/>
          </a:xfrm>
          <a:prstGeom prst="rect">
            <a:avLst/>
          </a:prstGeom>
          <a:noFill/>
          <a:ln/>
        </p:spPr>
        <p:txBody>
          <a:bodyPr wrap="square" lIns="0" tIns="0" rIns="0" bIns="0" rtlCol="0" anchor="ctr"/>
          <a:lstStyle/>
          <a:p>
            <a:pPr indent="0" marL="0">
              <a:buNone/>
            </a:pPr>
            <a:r>
              <a:rPr lang="en-US" sz="1400" dirty="0">
                <a:solidFill>
                  <a:schemeClr val="accent5"/>
                </a:solidFill>
              </a:rPr>
              <a:t>Cloud basics, AWS console, IAM</a:t>
            </a:r>
            <a:endParaRPr lang="en-US" sz="1400" dirty="0"/>
          </a:p>
        </p:txBody>
      </p:sp>
      <p:sp>
        <p:nvSpPr>
          <p:cNvPr id="18" name="Phase 2 circle"/>
          <p:cNvSpPr/>
          <p:nvPr/>
        </p:nvSpPr>
        <p:spPr>
          <a:xfrm>
            <a:off x="5303520" y="2185416"/>
            <a:ext cx="502920" cy="502920"/>
          </a:xfrm>
          <a:prstGeom prst="ellipse">
            <a:avLst/>
          </a:prstGeom>
          <a:solidFill>
            <a:schemeClr val="accent1"/>
          </a:solidFill>
          <a:ln w="12700">
            <a:solidFill>
              <a:schemeClr val="accent1"/>
            </a:solidFill>
            <a:prstDash val="solid"/>
          </a:ln>
        </p:spPr>
      </p:sp>
      <p:sp>
        <p:nvSpPr>
          <p:cNvPr id="19" name="Phase 2 number"/>
          <p:cNvSpPr txBox="1"/>
          <p:nvPr/>
        </p:nvSpPr>
        <p:spPr>
          <a:xfrm>
            <a:off x="5303520" y="2185416"/>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20" name="Phase 2 title"/>
          <p:cNvSpPr txBox="1"/>
          <p:nvPr/>
        </p:nvSpPr>
        <p:spPr>
          <a:xfrm>
            <a:off x="5989320" y="2148840"/>
            <a:ext cx="2697480" cy="320040"/>
          </a:xfrm>
          <a:prstGeom prst="rect">
            <a:avLst/>
          </a:prstGeom>
          <a:noFill/>
          <a:ln/>
        </p:spPr>
        <p:txBody>
          <a:bodyPr wrap="square" lIns="0" tIns="0" rIns="0" bIns="0" rtlCol="0" anchor="ctr"/>
          <a:lstStyle/>
          <a:p>
            <a:pPr indent="0" marL="0">
              <a:buNone/>
            </a:pPr>
            <a:r>
              <a:rPr lang="en-US" sz="1600" b="1" dirty="0">
                <a:solidFill>
                  <a:schemeClr val="tx1"/>
                </a:solidFill>
              </a:rPr>
              <a:t>Days 6–10</a:t>
            </a:r>
            <a:endParaRPr lang="en-US" sz="1600" dirty="0"/>
          </a:p>
        </p:txBody>
      </p:sp>
      <p:sp>
        <p:nvSpPr>
          <p:cNvPr id="21" name="Phase 2 text"/>
          <p:cNvSpPr txBox="1"/>
          <p:nvPr/>
        </p:nvSpPr>
        <p:spPr>
          <a:xfrm>
            <a:off x="5989320" y="2468880"/>
            <a:ext cx="2697480" cy="320040"/>
          </a:xfrm>
          <a:prstGeom prst="rect">
            <a:avLst/>
          </a:prstGeom>
          <a:noFill/>
          <a:ln/>
        </p:spPr>
        <p:txBody>
          <a:bodyPr wrap="square" lIns="0" tIns="0" rIns="0" bIns="0" rtlCol="0" anchor="ctr"/>
          <a:lstStyle/>
          <a:p>
            <a:pPr indent="0" marL="0">
              <a:buNone/>
            </a:pPr>
            <a:r>
              <a:rPr lang="en-US" sz="1400" dirty="0">
                <a:solidFill>
                  <a:schemeClr val="accent5"/>
                </a:solidFill>
              </a:rPr>
              <a:t>EC2 and S3 hands-on</a:t>
            </a:r>
            <a:endParaRPr lang="en-US" sz="1400" dirty="0"/>
          </a:p>
        </p:txBody>
      </p:sp>
      <p:sp>
        <p:nvSpPr>
          <p:cNvPr id="22" name="Phase 3 circle"/>
          <p:cNvSpPr/>
          <p:nvPr/>
        </p:nvSpPr>
        <p:spPr>
          <a:xfrm>
            <a:off x="5303520" y="3026664"/>
            <a:ext cx="502920" cy="502920"/>
          </a:xfrm>
          <a:prstGeom prst="ellipse">
            <a:avLst/>
          </a:prstGeom>
          <a:solidFill>
            <a:schemeClr val="accent1"/>
          </a:solidFill>
          <a:ln w="12700">
            <a:solidFill>
              <a:schemeClr val="accent1"/>
            </a:solidFill>
            <a:prstDash val="solid"/>
          </a:ln>
        </p:spPr>
      </p:sp>
      <p:sp>
        <p:nvSpPr>
          <p:cNvPr id="23" name="Phase 3 number"/>
          <p:cNvSpPr txBox="1"/>
          <p:nvPr/>
        </p:nvSpPr>
        <p:spPr>
          <a:xfrm>
            <a:off x="5303520" y="3026664"/>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24" name="Phase 3 title"/>
          <p:cNvSpPr txBox="1"/>
          <p:nvPr/>
        </p:nvSpPr>
        <p:spPr>
          <a:xfrm>
            <a:off x="5989320" y="2990088"/>
            <a:ext cx="2697480" cy="320040"/>
          </a:xfrm>
          <a:prstGeom prst="rect">
            <a:avLst/>
          </a:prstGeom>
          <a:noFill/>
          <a:ln/>
        </p:spPr>
        <p:txBody>
          <a:bodyPr wrap="square" lIns="0" tIns="0" rIns="0" bIns="0" rtlCol="0" anchor="ctr"/>
          <a:lstStyle/>
          <a:p>
            <a:pPr indent="0" marL="0">
              <a:buNone/>
            </a:pPr>
            <a:r>
              <a:rPr lang="en-US" sz="1600" b="1" dirty="0">
                <a:solidFill>
                  <a:schemeClr val="tx1"/>
                </a:solidFill>
              </a:rPr>
              <a:t>Days 11–15</a:t>
            </a:r>
            <a:endParaRPr lang="en-US" sz="1600" dirty="0"/>
          </a:p>
        </p:txBody>
      </p:sp>
      <p:sp>
        <p:nvSpPr>
          <p:cNvPr id="25" name="Phase 3 text"/>
          <p:cNvSpPr txBox="1"/>
          <p:nvPr/>
        </p:nvSpPr>
        <p:spPr>
          <a:xfrm>
            <a:off x="5989320" y="3310128"/>
            <a:ext cx="2697480" cy="320040"/>
          </a:xfrm>
          <a:prstGeom prst="rect">
            <a:avLst/>
          </a:prstGeom>
          <a:noFill/>
          <a:ln/>
        </p:spPr>
        <p:txBody>
          <a:bodyPr wrap="square" lIns="0" tIns="0" rIns="0" bIns="0" rtlCol="0" anchor="ctr"/>
          <a:lstStyle/>
          <a:p>
            <a:pPr indent="0" marL="0">
              <a:buNone/>
            </a:pPr>
            <a:r>
              <a:rPr lang="en-US" sz="1400" dirty="0">
                <a:solidFill>
                  <a:schemeClr val="accent5"/>
                </a:solidFill>
              </a:rPr>
              <a:t>Lambda and API Gateway</a:t>
            </a:r>
            <a:endParaRPr lang="en-US" sz="1400" dirty="0"/>
          </a:p>
        </p:txBody>
      </p:sp>
      <p:sp>
        <p:nvSpPr>
          <p:cNvPr id="26" name="Phase 4 circle"/>
          <p:cNvSpPr/>
          <p:nvPr/>
        </p:nvSpPr>
        <p:spPr>
          <a:xfrm>
            <a:off x="5303520" y="3867912"/>
            <a:ext cx="502920" cy="502920"/>
          </a:xfrm>
          <a:prstGeom prst="ellipse">
            <a:avLst/>
          </a:prstGeom>
          <a:solidFill>
            <a:schemeClr val="accent1"/>
          </a:solidFill>
          <a:ln w="12700">
            <a:solidFill>
              <a:schemeClr val="accent1"/>
            </a:solidFill>
            <a:prstDash val="solid"/>
          </a:ln>
        </p:spPr>
      </p:sp>
      <p:sp>
        <p:nvSpPr>
          <p:cNvPr id="27" name="Phase 4 number"/>
          <p:cNvSpPr txBox="1"/>
          <p:nvPr/>
        </p:nvSpPr>
        <p:spPr>
          <a:xfrm>
            <a:off x="5303520" y="3867912"/>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28" name="Phase 4 title"/>
          <p:cNvSpPr txBox="1"/>
          <p:nvPr/>
        </p:nvSpPr>
        <p:spPr>
          <a:xfrm>
            <a:off x="5989320" y="3831336"/>
            <a:ext cx="2697480" cy="320040"/>
          </a:xfrm>
          <a:prstGeom prst="rect">
            <a:avLst/>
          </a:prstGeom>
          <a:noFill/>
          <a:ln/>
        </p:spPr>
        <p:txBody>
          <a:bodyPr wrap="square" lIns="0" tIns="0" rIns="0" bIns="0" rtlCol="0" anchor="ctr"/>
          <a:lstStyle/>
          <a:p>
            <a:pPr indent="0" marL="0">
              <a:buNone/>
            </a:pPr>
            <a:r>
              <a:rPr lang="en-US" sz="1600" b="1" dirty="0">
                <a:solidFill>
                  <a:schemeClr val="tx1"/>
                </a:solidFill>
              </a:rPr>
              <a:t>Days 16–30</a:t>
            </a:r>
            <a:endParaRPr lang="en-US" sz="1600" dirty="0"/>
          </a:p>
        </p:txBody>
      </p:sp>
      <p:sp>
        <p:nvSpPr>
          <p:cNvPr id="29" name="Phase 4 text"/>
          <p:cNvSpPr txBox="1"/>
          <p:nvPr/>
        </p:nvSpPr>
        <p:spPr>
          <a:xfrm>
            <a:off x="5989320" y="4151376"/>
            <a:ext cx="2697480" cy="320040"/>
          </a:xfrm>
          <a:prstGeom prst="rect">
            <a:avLst/>
          </a:prstGeom>
          <a:noFill/>
          <a:ln/>
        </p:spPr>
        <p:txBody>
          <a:bodyPr wrap="square" lIns="0" tIns="0" rIns="0" bIns="0" rtlCol="0" anchor="ctr"/>
          <a:lstStyle/>
          <a:p>
            <a:pPr indent="0" marL="0">
              <a:buNone/>
            </a:pPr>
            <a:r>
              <a:rPr lang="en-US" sz="1400" dirty="0">
                <a:solidFill>
                  <a:schemeClr val="accent5"/>
                </a:solidFill>
              </a:rPr>
              <a:t>Build, test and document</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Existing vs Proposed Solution</a:t>
            </a:r>
            <a:endParaRPr lang="en-US" sz="3600" dirty="0"/>
          </a:p>
        </p:txBody>
      </p:sp>
      <p:sp>
        <p:nvSpPr>
          <p:cNvPr id="3" name="Existing panel"/>
          <p:cNvSpPr/>
          <p:nvPr/>
        </p:nvSpPr>
        <p:spPr>
          <a:xfrm>
            <a:off x="457200" y="1188720"/>
            <a:ext cx="4023360" cy="2697480"/>
          </a:xfrm>
          <a:prstGeom prst="roundRect">
            <a:avLst>
              <a:gd name="adj" fmla="val 3390"/>
            </a:avLst>
          </a:prstGeom>
          <a:solidFill>
            <a:schemeClr val="bg2"/>
          </a:solidFill>
          <a:ln w="12700">
            <a:solidFill>
              <a:schemeClr val="bg2"/>
            </a:solidFill>
            <a:prstDash val="solid"/>
          </a:ln>
        </p:spPr>
      </p:sp>
      <p:pic>
        <p:nvPicPr>
          <p:cNvPr id="4" name="Existing icon" descr="Cross icon">    </p:cNvPr>
          <p:cNvPicPr>
            <a:picLocks noChangeAspect="1"/>
          </p:cNvPicPr>
          <p:nvPr/>
        </p:nvPicPr>
        <p:blipFill>
          <a:blip r:embed="rId1"/>
          <a:stretch>
            <a:fillRect/>
          </a:stretch>
        </p:blipFill>
        <p:spPr>
          <a:xfrm>
            <a:off x="731520" y="1371600"/>
            <a:ext cx="347472" cy="347472"/>
          </a:xfrm>
          <a:prstGeom prst="rect">
            <a:avLst/>
          </a:prstGeom>
        </p:spPr>
      </p:pic>
      <p:sp>
        <p:nvSpPr>
          <p:cNvPr id="5" name="Existing heading"/>
          <p:cNvSpPr txBox="1"/>
          <p:nvPr/>
        </p:nvSpPr>
        <p:spPr>
          <a:xfrm>
            <a:off x="1188720" y="1344168"/>
            <a:ext cx="3108960" cy="402336"/>
          </a:xfrm>
          <a:prstGeom prst="rect">
            <a:avLst/>
          </a:prstGeom>
          <a:noFill/>
          <a:ln/>
        </p:spPr>
        <p:txBody>
          <a:bodyPr wrap="square" lIns="0" tIns="0" rIns="0" bIns="0" rtlCol="0" anchor="ctr"/>
          <a:lstStyle/>
          <a:p>
            <a:pPr indent="0" marL="0">
              <a:buNone/>
            </a:pPr>
            <a:r>
              <a:rPr lang="en-US" sz="1800" b="1" dirty="0">
                <a:solidFill>
                  <a:schemeClr val="accent5"/>
                </a:solidFill>
              </a:rPr>
              <a:t>Existing: server-based</a:t>
            </a:r>
            <a:endParaRPr lang="en-US" sz="1800" dirty="0"/>
          </a:p>
        </p:txBody>
      </p:sp>
      <p:sp>
        <p:nvSpPr>
          <p:cNvPr id="6" name="Existing list"/>
          <p:cNvSpPr txBox="1"/>
          <p:nvPr/>
        </p:nvSpPr>
        <p:spPr>
          <a:xfrm>
            <a:off x="731520" y="1920240"/>
            <a:ext cx="3566160" cy="1828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Needs a server or hosting environment</a:t>
            </a:r>
            <a:endParaRPr lang="en-US" sz="1400" dirty="0"/>
          </a:p>
          <a:p>
            <a:pPr marL="342900" indent="-342900">
              <a:spcAft>
                <a:spcPts val="600"/>
              </a:spcAft>
              <a:buSzPct val="100000"/>
              <a:buChar char="•"/>
            </a:pPr>
            <a:r>
              <a:rPr lang="en-US" sz="1400" dirty="0">
                <a:solidFill>
                  <a:schemeClr val="tx1"/>
                </a:solidFill>
              </a:rPr>
              <a:t>Runs even with very few users</a:t>
            </a:r>
            <a:endParaRPr lang="en-US" sz="1400" dirty="0"/>
          </a:p>
          <a:p>
            <a:pPr marL="342900" indent="-342900">
              <a:spcAft>
                <a:spcPts val="600"/>
              </a:spcAft>
              <a:buSzPct val="100000"/>
              <a:buChar char="•"/>
            </a:pPr>
            <a:r>
              <a:rPr lang="en-US" sz="1400" dirty="0">
                <a:solidFill>
                  <a:schemeClr val="tx1"/>
                </a:solidFill>
              </a:rPr>
              <a:t>Manual scaling is difficult</a:t>
            </a:r>
            <a:endParaRPr lang="en-US" sz="1400" dirty="0"/>
          </a:p>
          <a:p>
            <a:pPr marL="342900" indent="-342900">
              <a:spcAft>
                <a:spcPts val="600"/>
              </a:spcAft>
              <a:buSzPct val="100000"/>
              <a:buChar char="•"/>
            </a:pPr>
            <a:r>
              <a:rPr lang="en-US" sz="1400" dirty="0">
                <a:solidFill>
                  <a:schemeClr val="tx1"/>
                </a:solidFill>
              </a:rPr>
              <a:t>Ongoing server maintenance</a:t>
            </a:r>
            <a:endParaRPr lang="en-US" sz="1400" dirty="0"/>
          </a:p>
          <a:p>
            <a:pPr marL="342900" indent="-342900">
              <a:spcAft>
                <a:spcPts val="600"/>
              </a:spcAft>
              <a:buSzPct val="100000"/>
              <a:buChar char="•"/>
            </a:pPr>
            <a:r>
              <a:rPr lang="en-US" sz="1400" dirty="0">
                <a:solidFill>
                  <a:schemeClr val="tx1"/>
                </a:solidFill>
              </a:rPr>
              <a:t>Security settings managed by hand</a:t>
            </a:r>
            <a:endParaRPr lang="en-US" sz="1400" dirty="0"/>
          </a:p>
        </p:txBody>
      </p:sp>
      <p:sp>
        <p:nvSpPr>
          <p:cNvPr id="7" name="Proposed panel"/>
          <p:cNvSpPr/>
          <p:nvPr/>
        </p:nvSpPr>
        <p:spPr>
          <a:xfrm>
            <a:off x="4663440" y="1188720"/>
            <a:ext cx="4023360" cy="2697480"/>
          </a:xfrm>
          <a:prstGeom prst="roundRect">
            <a:avLst>
              <a:gd name="adj" fmla="val 3390"/>
            </a:avLst>
          </a:prstGeom>
          <a:solidFill>
            <a:schemeClr val="accent4"/>
          </a:solidFill>
          <a:ln w="12700">
            <a:solidFill>
              <a:schemeClr val="accent4"/>
            </a:solidFill>
            <a:prstDash val="solid"/>
          </a:ln>
        </p:spPr>
      </p:sp>
      <p:pic>
        <p:nvPicPr>
          <p:cNvPr id="8" name="Proposed icon" descr="Check icon">    </p:cNvPr>
          <p:cNvPicPr>
            <a:picLocks noChangeAspect="1"/>
          </p:cNvPicPr>
          <p:nvPr/>
        </p:nvPicPr>
        <p:blipFill>
          <a:blip r:embed="rId2"/>
          <a:stretch>
            <a:fillRect/>
          </a:stretch>
        </p:blipFill>
        <p:spPr>
          <a:xfrm>
            <a:off x="4937760" y="1371600"/>
            <a:ext cx="347472" cy="347472"/>
          </a:xfrm>
          <a:prstGeom prst="rect">
            <a:avLst/>
          </a:prstGeom>
        </p:spPr>
      </p:pic>
      <p:sp>
        <p:nvSpPr>
          <p:cNvPr id="9" name="Proposed heading"/>
          <p:cNvSpPr txBox="1"/>
          <p:nvPr/>
        </p:nvSpPr>
        <p:spPr>
          <a:xfrm>
            <a:off x="5394960" y="1344168"/>
            <a:ext cx="3200400" cy="402336"/>
          </a:xfrm>
          <a:prstGeom prst="rect">
            <a:avLst/>
          </a:prstGeom>
          <a:noFill/>
          <a:ln/>
        </p:spPr>
        <p:txBody>
          <a:bodyPr wrap="square" lIns="0" tIns="0" rIns="0" bIns="0" rtlCol="0" anchor="ctr"/>
          <a:lstStyle/>
          <a:p>
            <a:pPr indent="0" marL="0">
              <a:buNone/>
            </a:pPr>
            <a:r>
              <a:rPr lang="en-US" sz="1800" b="1" dirty="0">
                <a:solidFill>
                  <a:schemeClr val="accent1"/>
                </a:solidFill>
              </a:rPr>
              <a:t>Proposed: serverless on AWS</a:t>
            </a:r>
            <a:endParaRPr lang="en-US" sz="1800" dirty="0"/>
          </a:p>
        </p:txBody>
      </p:sp>
      <p:sp>
        <p:nvSpPr>
          <p:cNvPr id="10" name="Proposed list"/>
          <p:cNvSpPr txBox="1"/>
          <p:nvPr/>
        </p:nvSpPr>
        <p:spPr>
          <a:xfrm>
            <a:off x="4937760" y="1920240"/>
            <a:ext cx="3566160" cy="1828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S3 stores resumes and site files</a:t>
            </a:r>
            <a:endParaRPr lang="en-US" sz="1400" dirty="0"/>
          </a:p>
          <a:p>
            <a:pPr marL="342900" indent="-342900">
              <a:spcAft>
                <a:spcPts val="600"/>
              </a:spcAft>
              <a:buSzPct val="100000"/>
              <a:buChar char="•"/>
            </a:pPr>
            <a:r>
              <a:rPr lang="en-US" sz="1400" dirty="0">
                <a:solidFill>
                  <a:schemeClr val="bg1"/>
                </a:solidFill>
              </a:rPr>
              <a:t>Lambda runs backend, no idle server</a:t>
            </a:r>
            <a:endParaRPr lang="en-US" sz="1400" dirty="0"/>
          </a:p>
          <a:p>
            <a:pPr marL="342900" indent="-342900">
              <a:spcAft>
                <a:spcPts val="600"/>
              </a:spcAft>
              <a:buSzPct val="100000"/>
              <a:buChar char="•"/>
            </a:pPr>
            <a:r>
              <a:rPr lang="en-US" sz="1400" dirty="0">
                <a:solidFill>
                  <a:schemeClr val="bg1"/>
                </a:solidFill>
              </a:rPr>
              <a:t>API Gateway handles requests</a:t>
            </a:r>
            <a:endParaRPr lang="en-US" sz="1400" dirty="0"/>
          </a:p>
          <a:p>
            <a:pPr marL="342900" indent="-342900">
              <a:spcAft>
                <a:spcPts val="600"/>
              </a:spcAft>
              <a:buSzPct val="100000"/>
              <a:buChar char="•"/>
            </a:pPr>
            <a:r>
              <a:rPr lang="en-US" sz="1400" dirty="0">
                <a:solidFill>
                  <a:schemeClr val="bg1"/>
                </a:solidFill>
              </a:rPr>
              <a:t>IAM gives controlled access</a:t>
            </a:r>
            <a:endParaRPr lang="en-US" sz="1400" dirty="0"/>
          </a:p>
          <a:p>
            <a:pPr marL="342900" indent="-342900">
              <a:spcAft>
                <a:spcPts val="600"/>
              </a:spcAft>
              <a:buSzPct val="100000"/>
              <a:buChar char="•"/>
            </a:pPr>
            <a:r>
              <a:rPr lang="en-US" sz="1400" dirty="0">
                <a:solidFill>
                  <a:schemeClr val="bg1"/>
                </a:solidFill>
              </a:rPr>
              <a:t>Scales automatically, pay per use</a:t>
            </a:r>
            <a:endParaRPr lang="en-US" sz="1400" dirty="0"/>
          </a:p>
        </p:txBody>
      </p:sp>
      <p:sp>
        <p:nvSpPr>
          <p:cNvPr id="11" name="Trade-offs card"/>
          <p:cNvSpPr/>
          <p:nvPr/>
        </p:nvSpPr>
        <p:spPr>
          <a:xfrm>
            <a:off x="457200" y="4023360"/>
            <a:ext cx="8229600" cy="594360"/>
          </a:xfrm>
          <a:prstGeom prst="roundRect">
            <a:avLst>
              <a:gd name="adj" fmla="val 15385"/>
            </a:avLst>
          </a:prstGeom>
          <a:solidFill>
            <a:schemeClr val="bg2"/>
          </a:solidFill>
          <a:ln w="12700">
            <a:solidFill>
              <a:schemeClr val="bg2"/>
            </a:solidFill>
            <a:prstDash val="solid"/>
          </a:ln>
        </p:spPr>
      </p:sp>
      <p:sp>
        <p:nvSpPr>
          <p:cNvPr id="12" name="Trade-offs text"/>
          <p:cNvSpPr txBox="1"/>
          <p:nvPr/>
        </p:nvSpPr>
        <p:spPr>
          <a:xfrm>
            <a:off x="640080" y="4023360"/>
            <a:ext cx="7863840" cy="594360"/>
          </a:xfrm>
          <a:prstGeom prst="rect">
            <a:avLst/>
          </a:prstGeom>
          <a:noFill/>
          <a:ln/>
        </p:spPr>
        <p:txBody>
          <a:bodyPr wrap="square" lIns="0" tIns="0" rIns="0" bIns="0" rtlCol="0" anchor="ctr"/>
          <a:lstStyle/>
          <a:p>
            <a:pPr indent="0" marL="0">
              <a:buNone/>
            </a:pPr>
            <a:r>
              <a:rPr lang="en-US" sz="1400" b="1" dirty="0">
                <a:solidFill>
                  <a:schemeClr val="tx1"/>
                </a:solidFill>
              </a:rPr>
              <a:t>Trade-offs: </a:t>
            </a:r>
            <a:pPr indent="0" marL="0">
              <a:buNone/>
            </a:pPr>
            <a:r>
              <a:rPr lang="en-US" sz="1400" dirty="0">
                <a:solidFill>
                  <a:schemeClr val="tx1"/>
                </a:solidFill>
              </a:rPr>
              <a:t>AWS service dependency, internet required, IAM and S3 setup complexity, cost monitoring</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Serverless Architecture on AWS</a:t>
            </a:r>
            <a:endParaRPr lang="en-US" sz="3600" dirty="0"/>
          </a:p>
        </p:txBody>
      </p:sp>
      <p:sp>
        <p:nvSpPr>
          <p:cNvPr id="3" name="Visitor node"/>
          <p:cNvSpPr/>
          <p:nvPr/>
        </p:nvSpPr>
        <p:spPr>
          <a:xfrm>
            <a:off x="457200" y="1234440"/>
            <a:ext cx="1417320" cy="731520"/>
          </a:xfrm>
          <a:prstGeom prst="roundRect">
            <a:avLst>
              <a:gd name="adj" fmla="val 12500"/>
            </a:avLst>
          </a:prstGeom>
          <a:solidFill>
            <a:schemeClr val="bg2"/>
          </a:solidFill>
          <a:ln w="12700">
            <a:solidFill>
              <a:schemeClr val="bg2"/>
            </a:solidFill>
            <a:prstDash val="solid"/>
          </a:ln>
        </p:spPr>
      </p:sp>
      <p:sp>
        <p:nvSpPr>
          <p:cNvPr id="4" name="Visitor label"/>
          <p:cNvSpPr txBox="1"/>
          <p:nvPr/>
        </p:nvSpPr>
        <p:spPr>
          <a:xfrm>
            <a:off x="457200" y="1307592"/>
            <a:ext cx="1417320" cy="320040"/>
          </a:xfrm>
          <a:prstGeom prst="rect">
            <a:avLst/>
          </a:prstGeom>
          <a:noFill/>
          <a:ln/>
        </p:spPr>
        <p:txBody>
          <a:bodyPr wrap="square" lIns="0" tIns="0" rIns="0" bIns="0" rtlCol="0" anchor="ctr"/>
          <a:lstStyle/>
          <a:p>
            <a:pPr algn="ctr" indent="0" marL="0">
              <a:buNone/>
            </a:pPr>
            <a:r>
              <a:rPr lang="en-US" sz="1400" b="1" dirty="0">
                <a:solidFill>
                  <a:schemeClr val="tx1"/>
                </a:solidFill>
              </a:rPr>
              <a:t>Visitor</a:t>
            </a:r>
            <a:endParaRPr lang="en-US" sz="1400" dirty="0"/>
          </a:p>
        </p:txBody>
      </p:sp>
      <p:sp>
        <p:nvSpPr>
          <p:cNvPr id="5" name="Visitor caption"/>
          <p:cNvSpPr txBox="1"/>
          <p:nvPr/>
        </p:nvSpPr>
        <p:spPr>
          <a:xfrm>
            <a:off x="457200" y="1627632"/>
            <a:ext cx="1417320" cy="256032"/>
          </a:xfrm>
          <a:prstGeom prst="rect">
            <a:avLst/>
          </a:prstGeom>
          <a:noFill/>
          <a:ln/>
        </p:spPr>
        <p:txBody>
          <a:bodyPr wrap="square" lIns="0" tIns="0" rIns="0" bIns="0" rtlCol="0" anchor="ctr"/>
          <a:lstStyle/>
          <a:p>
            <a:pPr algn="ctr" indent="0" marL="0">
              <a:buNone/>
            </a:pPr>
            <a:r>
              <a:rPr lang="en-US" sz="1100" dirty="0">
                <a:solidFill>
                  <a:schemeClr val="accent5"/>
                </a:solidFill>
              </a:rPr>
              <a:t>Browser</a:t>
            </a:r>
            <a:endParaRPr lang="en-US" sz="1100" dirty="0"/>
          </a:p>
        </p:txBody>
      </p:sp>
      <p:sp>
        <p:nvSpPr>
          <p:cNvPr id="6" name="Route 53 node"/>
          <p:cNvSpPr/>
          <p:nvPr/>
        </p:nvSpPr>
        <p:spPr>
          <a:xfrm>
            <a:off x="2148840" y="1234440"/>
            <a:ext cx="1417320" cy="731520"/>
          </a:xfrm>
          <a:prstGeom prst="roundRect">
            <a:avLst>
              <a:gd name="adj" fmla="val 12500"/>
            </a:avLst>
          </a:prstGeom>
          <a:solidFill>
            <a:schemeClr val="bg2"/>
          </a:solidFill>
          <a:ln w="12700">
            <a:solidFill>
              <a:schemeClr val="bg2"/>
            </a:solidFill>
            <a:prstDash val="solid"/>
          </a:ln>
        </p:spPr>
      </p:sp>
      <p:sp>
        <p:nvSpPr>
          <p:cNvPr id="7" name="Route 53 label"/>
          <p:cNvSpPr txBox="1"/>
          <p:nvPr/>
        </p:nvSpPr>
        <p:spPr>
          <a:xfrm>
            <a:off x="2148840" y="1307592"/>
            <a:ext cx="1417320" cy="320040"/>
          </a:xfrm>
          <a:prstGeom prst="rect">
            <a:avLst/>
          </a:prstGeom>
          <a:noFill/>
          <a:ln/>
        </p:spPr>
        <p:txBody>
          <a:bodyPr wrap="square" lIns="0" tIns="0" rIns="0" bIns="0" rtlCol="0" anchor="ctr"/>
          <a:lstStyle/>
          <a:p>
            <a:pPr algn="ctr" indent="0" marL="0">
              <a:buNone/>
            </a:pPr>
            <a:r>
              <a:rPr lang="en-US" sz="1400" b="1" dirty="0">
                <a:solidFill>
                  <a:schemeClr val="tx1"/>
                </a:solidFill>
              </a:rPr>
              <a:t>Route 53</a:t>
            </a:r>
            <a:endParaRPr lang="en-US" sz="1400" dirty="0"/>
          </a:p>
        </p:txBody>
      </p:sp>
      <p:sp>
        <p:nvSpPr>
          <p:cNvPr id="8" name="Route 53 caption"/>
          <p:cNvSpPr txBox="1"/>
          <p:nvPr/>
        </p:nvSpPr>
        <p:spPr>
          <a:xfrm>
            <a:off x="2148840" y="1627632"/>
            <a:ext cx="1417320" cy="256032"/>
          </a:xfrm>
          <a:prstGeom prst="rect">
            <a:avLst/>
          </a:prstGeom>
          <a:noFill/>
          <a:ln/>
        </p:spPr>
        <p:txBody>
          <a:bodyPr wrap="square" lIns="0" tIns="0" rIns="0" bIns="0" rtlCol="0" anchor="ctr"/>
          <a:lstStyle/>
          <a:p>
            <a:pPr algn="ctr" indent="0" marL="0">
              <a:buNone/>
            </a:pPr>
            <a:r>
              <a:rPr lang="en-US" sz="1100" dirty="0">
                <a:solidFill>
                  <a:schemeClr val="accent5"/>
                </a:solidFill>
              </a:rPr>
              <a:t>DNS</a:t>
            </a:r>
            <a:endParaRPr lang="en-US" sz="1100" dirty="0"/>
          </a:p>
        </p:txBody>
      </p:sp>
      <p:sp>
        <p:nvSpPr>
          <p:cNvPr id="9" name="CloudFront node"/>
          <p:cNvSpPr/>
          <p:nvPr/>
        </p:nvSpPr>
        <p:spPr>
          <a:xfrm>
            <a:off x="3840480" y="1234440"/>
            <a:ext cx="1417320" cy="731520"/>
          </a:xfrm>
          <a:prstGeom prst="roundRect">
            <a:avLst>
              <a:gd name="adj" fmla="val 12500"/>
            </a:avLst>
          </a:prstGeom>
          <a:solidFill>
            <a:schemeClr val="bg2"/>
          </a:solidFill>
          <a:ln w="12700">
            <a:solidFill>
              <a:schemeClr val="bg2"/>
            </a:solidFill>
            <a:prstDash val="solid"/>
          </a:ln>
        </p:spPr>
      </p:sp>
      <p:sp>
        <p:nvSpPr>
          <p:cNvPr id="10" name="CloudFront label"/>
          <p:cNvSpPr txBox="1"/>
          <p:nvPr/>
        </p:nvSpPr>
        <p:spPr>
          <a:xfrm>
            <a:off x="3840480" y="1307592"/>
            <a:ext cx="1417320" cy="320040"/>
          </a:xfrm>
          <a:prstGeom prst="rect">
            <a:avLst/>
          </a:prstGeom>
          <a:noFill/>
          <a:ln/>
        </p:spPr>
        <p:txBody>
          <a:bodyPr wrap="square" lIns="0" tIns="0" rIns="0" bIns="0" rtlCol="0" anchor="ctr"/>
          <a:lstStyle/>
          <a:p>
            <a:pPr algn="ctr" indent="0" marL="0">
              <a:buNone/>
            </a:pPr>
            <a:r>
              <a:rPr lang="en-US" sz="1400" b="1" dirty="0">
                <a:solidFill>
                  <a:schemeClr val="tx1"/>
                </a:solidFill>
              </a:rPr>
              <a:t>CloudFront</a:t>
            </a:r>
            <a:endParaRPr lang="en-US" sz="1400" dirty="0"/>
          </a:p>
        </p:txBody>
      </p:sp>
      <p:sp>
        <p:nvSpPr>
          <p:cNvPr id="11" name="CloudFront caption"/>
          <p:cNvSpPr txBox="1"/>
          <p:nvPr/>
        </p:nvSpPr>
        <p:spPr>
          <a:xfrm>
            <a:off x="3840480" y="1627632"/>
            <a:ext cx="1417320" cy="256032"/>
          </a:xfrm>
          <a:prstGeom prst="rect">
            <a:avLst/>
          </a:prstGeom>
          <a:noFill/>
          <a:ln/>
        </p:spPr>
        <p:txBody>
          <a:bodyPr wrap="square" lIns="0" tIns="0" rIns="0" bIns="0" rtlCol="0" anchor="ctr"/>
          <a:lstStyle/>
          <a:p>
            <a:pPr algn="ctr" indent="0" marL="0">
              <a:buNone/>
            </a:pPr>
            <a:r>
              <a:rPr lang="en-US" sz="1100" dirty="0">
                <a:solidFill>
                  <a:schemeClr val="accent5"/>
                </a:solidFill>
              </a:rPr>
              <a:t>CDN, HTTPS</a:t>
            </a:r>
            <a:endParaRPr lang="en-US" sz="1100" dirty="0"/>
          </a:p>
        </p:txBody>
      </p:sp>
      <p:sp>
        <p:nvSpPr>
          <p:cNvPr id="12" name="S3 Bucket node"/>
          <p:cNvSpPr/>
          <p:nvPr/>
        </p:nvSpPr>
        <p:spPr>
          <a:xfrm>
            <a:off x="5532120" y="1234440"/>
            <a:ext cx="1417320" cy="731520"/>
          </a:xfrm>
          <a:prstGeom prst="roundRect">
            <a:avLst>
              <a:gd name="adj" fmla="val 12500"/>
            </a:avLst>
          </a:prstGeom>
          <a:solidFill>
            <a:schemeClr val="accent1"/>
          </a:solidFill>
          <a:ln w="12700">
            <a:solidFill>
              <a:schemeClr val="accent1"/>
            </a:solidFill>
            <a:prstDash val="solid"/>
          </a:ln>
        </p:spPr>
      </p:sp>
      <p:sp>
        <p:nvSpPr>
          <p:cNvPr id="13" name="S3 Bucket label"/>
          <p:cNvSpPr txBox="1"/>
          <p:nvPr/>
        </p:nvSpPr>
        <p:spPr>
          <a:xfrm>
            <a:off x="5532120" y="1307592"/>
            <a:ext cx="1417320" cy="320040"/>
          </a:xfrm>
          <a:prstGeom prst="rect">
            <a:avLst/>
          </a:prstGeom>
          <a:noFill/>
          <a:ln/>
        </p:spPr>
        <p:txBody>
          <a:bodyPr wrap="square" lIns="0" tIns="0" rIns="0" bIns="0" rtlCol="0" anchor="ctr"/>
          <a:lstStyle/>
          <a:p>
            <a:pPr algn="ctr" indent="0" marL="0">
              <a:buNone/>
            </a:pPr>
            <a:r>
              <a:rPr lang="en-US" sz="1400" b="1" dirty="0">
                <a:solidFill>
                  <a:schemeClr val="tx1"/>
                </a:solidFill>
              </a:rPr>
              <a:t>S3 Bucket</a:t>
            </a:r>
            <a:endParaRPr lang="en-US" sz="1400" dirty="0"/>
          </a:p>
        </p:txBody>
      </p:sp>
      <p:sp>
        <p:nvSpPr>
          <p:cNvPr id="14" name="S3 Bucket caption"/>
          <p:cNvSpPr txBox="1"/>
          <p:nvPr/>
        </p:nvSpPr>
        <p:spPr>
          <a:xfrm>
            <a:off x="5532120" y="1627632"/>
            <a:ext cx="1417320" cy="256032"/>
          </a:xfrm>
          <a:prstGeom prst="rect">
            <a:avLst/>
          </a:prstGeom>
          <a:noFill/>
          <a:ln/>
        </p:spPr>
        <p:txBody>
          <a:bodyPr wrap="square" lIns="0" tIns="0" rIns="0" bIns="0" rtlCol="0" anchor="ctr"/>
          <a:lstStyle/>
          <a:p>
            <a:pPr algn="ctr" indent="0" marL="0">
              <a:buNone/>
            </a:pPr>
            <a:r>
              <a:rPr lang="en-US" sz="1100" dirty="0">
                <a:solidFill>
                  <a:schemeClr val="tx1"/>
                </a:solidFill>
              </a:rPr>
              <a:t>HTML, CSS, JS</a:t>
            </a:r>
            <a:endParaRPr lang="en-US" sz="1100" dirty="0"/>
          </a:p>
        </p:txBody>
      </p:sp>
      <p:sp>
        <p:nvSpPr>
          <p:cNvPr id="15" name="ACM node"/>
          <p:cNvSpPr/>
          <p:nvPr/>
        </p:nvSpPr>
        <p:spPr>
          <a:xfrm>
            <a:off x="2148840" y="2423160"/>
            <a:ext cx="1417320" cy="731520"/>
          </a:xfrm>
          <a:prstGeom prst="roundRect">
            <a:avLst>
              <a:gd name="adj" fmla="val 12500"/>
            </a:avLst>
          </a:prstGeom>
          <a:solidFill>
            <a:schemeClr val="bg2"/>
          </a:solidFill>
          <a:ln w="12700">
            <a:solidFill>
              <a:schemeClr val="bg2"/>
            </a:solidFill>
            <a:prstDash val="solid"/>
          </a:ln>
        </p:spPr>
      </p:sp>
      <p:sp>
        <p:nvSpPr>
          <p:cNvPr id="16" name="ACM label"/>
          <p:cNvSpPr txBox="1"/>
          <p:nvPr/>
        </p:nvSpPr>
        <p:spPr>
          <a:xfrm>
            <a:off x="2148840" y="2496312"/>
            <a:ext cx="1417320" cy="320040"/>
          </a:xfrm>
          <a:prstGeom prst="rect">
            <a:avLst/>
          </a:prstGeom>
          <a:noFill/>
          <a:ln/>
        </p:spPr>
        <p:txBody>
          <a:bodyPr wrap="square" lIns="0" tIns="0" rIns="0" bIns="0" rtlCol="0" anchor="ctr"/>
          <a:lstStyle/>
          <a:p>
            <a:pPr algn="ctr" indent="0" marL="0">
              <a:buNone/>
            </a:pPr>
            <a:r>
              <a:rPr lang="en-US" sz="1400" b="1" dirty="0">
                <a:solidFill>
                  <a:schemeClr val="tx1"/>
                </a:solidFill>
              </a:rPr>
              <a:t>ACM</a:t>
            </a:r>
            <a:endParaRPr lang="en-US" sz="1400" dirty="0"/>
          </a:p>
        </p:txBody>
      </p:sp>
      <p:sp>
        <p:nvSpPr>
          <p:cNvPr id="17" name="ACM caption"/>
          <p:cNvSpPr txBox="1"/>
          <p:nvPr/>
        </p:nvSpPr>
        <p:spPr>
          <a:xfrm>
            <a:off x="2148840" y="2816352"/>
            <a:ext cx="1417320" cy="256032"/>
          </a:xfrm>
          <a:prstGeom prst="rect">
            <a:avLst/>
          </a:prstGeom>
          <a:noFill/>
          <a:ln/>
        </p:spPr>
        <p:txBody>
          <a:bodyPr wrap="square" lIns="0" tIns="0" rIns="0" bIns="0" rtlCol="0" anchor="ctr"/>
          <a:lstStyle/>
          <a:p>
            <a:pPr algn="ctr" indent="0" marL="0">
              <a:buNone/>
            </a:pPr>
            <a:r>
              <a:rPr lang="en-US" sz="1100" dirty="0">
                <a:solidFill>
                  <a:schemeClr val="accent5"/>
                </a:solidFill>
              </a:rPr>
              <a:t>TLS certificate</a:t>
            </a:r>
            <a:endParaRPr lang="en-US" sz="1100" dirty="0"/>
          </a:p>
        </p:txBody>
      </p:sp>
      <p:sp>
        <p:nvSpPr>
          <p:cNvPr id="18" name="API Gateway node"/>
          <p:cNvSpPr/>
          <p:nvPr/>
        </p:nvSpPr>
        <p:spPr>
          <a:xfrm>
            <a:off x="3840480" y="2423160"/>
            <a:ext cx="1417320" cy="731520"/>
          </a:xfrm>
          <a:prstGeom prst="roundRect">
            <a:avLst>
              <a:gd name="adj" fmla="val 12500"/>
            </a:avLst>
          </a:prstGeom>
          <a:solidFill>
            <a:schemeClr val="accent1"/>
          </a:solidFill>
          <a:ln w="12700">
            <a:solidFill>
              <a:schemeClr val="accent1"/>
            </a:solidFill>
            <a:prstDash val="solid"/>
          </a:ln>
        </p:spPr>
      </p:sp>
      <p:sp>
        <p:nvSpPr>
          <p:cNvPr id="19" name="API Gateway label"/>
          <p:cNvSpPr txBox="1"/>
          <p:nvPr/>
        </p:nvSpPr>
        <p:spPr>
          <a:xfrm>
            <a:off x="3840480" y="2496312"/>
            <a:ext cx="1417320" cy="320040"/>
          </a:xfrm>
          <a:prstGeom prst="rect">
            <a:avLst/>
          </a:prstGeom>
          <a:noFill/>
          <a:ln/>
        </p:spPr>
        <p:txBody>
          <a:bodyPr wrap="square" lIns="0" tIns="0" rIns="0" bIns="0" rtlCol="0" anchor="ctr"/>
          <a:lstStyle/>
          <a:p>
            <a:pPr algn="ctr" indent="0" marL="0">
              <a:buNone/>
            </a:pPr>
            <a:r>
              <a:rPr lang="en-US" sz="1400" b="1" dirty="0">
                <a:solidFill>
                  <a:schemeClr val="tx1"/>
                </a:solidFill>
              </a:rPr>
              <a:t>API Gateway</a:t>
            </a:r>
            <a:endParaRPr lang="en-US" sz="1400" dirty="0"/>
          </a:p>
        </p:txBody>
      </p:sp>
      <p:sp>
        <p:nvSpPr>
          <p:cNvPr id="20" name="API Gateway caption"/>
          <p:cNvSpPr txBox="1"/>
          <p:nvPr/>
        </p:nvSpPr>
        <p:spPr>
          <a:xfrm>
            <a:off x="3840480" y="2816352"/>
            <a:ext cx="1417320" cy="256032"/>
          </a:xfrm>
          <a:prstGeom prst="rect">
            <a:avLst/>
          </a:prstGeom>
          <a:noFill/>
          <a:ln/>
        </p:spPr>
        <p:txBody>
          <a:bodyPr wrap="square" lIns="0" tIns="0" rIns="0" bIns="0" rtlCol="0" anchor="ctr"/>
          <a:lstStyle/>
          <a:p>
            <a:pPr algn="ctr" indent="0" marL="0">
              <a:buNone/>
            </a:pPr>
            <a:r>
              <a:rPr lang="en-US" sz="1100" dirty="0">
                <a:solidFill>
                  <a:schemeClr val="tx1"/>
                </a:solidFill>
              </a:rPr>
              <a:t>REST / HTTP API</a:t>
            </a:r>
            <a:endParaRPr lang="en-US" sz="1100" dirty="0"/>
          </a:p>
        </p:txBody>
      </p:sp>
      <p:sp>
        <p:nvSpPr>
          <p:cNvPr id="21" name="Lambda node"/>
          <p:cNvSpPr/>
          <p:nvPr/>
        </p:nvSpPr>
        <p:spPr>
          <a:xfrm>
            <a:off x="5532120" y="2423160"/>
            <a:ext cx="1417320" cy="731520"/>
          </a:xfrm>
          <a:prstGeom prst="roundRect">
            <a:avLst>
              <a:gd name="adj" fmla="val 12500"/>
            </a:avLst>
          </a:prstGeom>
          <a:solidFill>
            <a:schemeClr val="accent1"/>
          </a:solidFill>
          <a:ln w="12700">
            <a:solidFill>
              <a:schemeClr val="accent1"/>
            </a:solidFill>
            <a:prstDash val="solid"/>
          </a:ln>
        </p:spPr>
      </p:sp>
      <p:sp>
        <p:nvSpPr>
          <p:cNvPr id="22" name="Lambda label"/>
          <p:cNvSpPr txBox="1"/>
          <p:nvPr/>
        </p:nvSpPr>
        <p:spPr>
          <a:xfrm>
            <a:off x="5532120" y="2496312"/>
            <a:ext cx="1417320" cy="320040"/>
          </a:xfrm>
          <a:prstGeom prst="rect">
            <a:avLst/>
          </a:prstGeom>
          <a:noFill/>
          <a:ln/>
        </p:spPr>
        <p:txBody>
          <a:bodyPr wrap="square" lIns="0" tIns="0" rIns="0" bIns="0" rtlCol="0" anchor="ctr"/>
          <a:lstStyle/>
          <a:p>
            <a:pPr algn="ctr" indent="0" marL="0">
              <a:buNone/>
            </a:pPr>
            <a:r>
              <a:rPr lang="en-US" sz="1400" b="1" dirty="0">
                <a:solidFill>
                  <a:schemeClr val="tx1"/>
                </a:solidFill>
              </a:rPr>
              <a:t>Lambda</a:t>
            </a:r>
            <a:endParaRPr lang="en-US" sz="1400" dirty="0"/>
          </a:p>
        </p:txBody>
      </p:sp>
      <p:sp>
        <p:nvSpPr>
          <p:cNvPr id="23" name="Lambda caption"/>
          <p:cNvSpPr txBox="1"/>
          <p:nvPr/>
        </p:nvSpPr>
        <p:spPr>
          <a:xfrm>
            <a:off x="5532120" y="2816352"/>
            <a:ext cx="1417320" cy="256032"/>
          </a:xfrm>
          <a:prstGeom prst="rect">
            <a:avLst/>
          </a:prstGeom>
          <a:noFill/>
          <a:ln/>
        </p:spPr>
        <p:txBody>
          <a:bodyPr wrap="square" lIns="0" tIns="0" rIns="0" bIns="0" rtlCol="0" anchor="ctr"/>
          <a:lstStyle/>
          <a:p>
            <a:pPr algn="ctr" indent="0" marL="0">
              <a:buNone/>
            </a:pPr>
            <a:r>
              <a:rPr lang="en-US" sz="1100" dirty="0">
                <a:solidFill>
                  <a:schemeClr val="tx1"/>
                </a:solidFill>
              </a:rPr>
              <a:t>Backend logic</a:t>
            </a:r>
            <a:endParaRPr lang="en-US" sz="1100" dirty="0"/>
          </a:p>
        </p:txBody>
      </p:sp>
      <p:sp>
        <p:nvSpPr>
          <p:cNvPr id="24" name="DynamoDB node"/>
          <p:cNvSpPr/>
          <p:nvPr/>
        </p:nvSpPr>
        <p:spPr>
          <a:xfrm>
            <a:off x="7223760" y="2423160"/>
            <a:ext cx="1417320" cy="731520"/>
          </a:xfrm>
          <a:prstGeom prst="roundRect">
            <a:avLst>
              <a:gd name="adj" fmla="val 12500"/>
            </a:avLst>
          </a:prstGeom>
          <a:solidFill>
            <a:schemeClr val="accent4"/>
          </a:solidFill>
          <a:ln w="12700">
            <a:solidFill>
              <a:schemeClr val="accent4"/>
            </a:solidFill>
            <a:prstDash val="solid"/>
          </a:ln>
        </p:spPr>
      </p:sp>
      <p:sp>
        <p:nvSpPr>
          <p:cNvPr id="25" name="DynamoDB label"/>
          <p:cNvSpPr txBox="1"/>
          <p:nvPr/>
        </p:nvSpPr>
        <p:spPr>
          <a:xfrm>
            <a:off x="7223760" y="2496312"/>
            <a:ext cx="1417320" cy="320040"/>
          </a:xfrm>
          <a:prstGeom prst="rect">
            <a:avLst/>
          </a:prstGeom>
          <a:noFill/>
          <a:ln/>
        </p:spPr>
        <p:txBody>
          <a:bodyPr wrap="square" lIns="0" tIns="0" rIns="0" bIns="0" rtlCol="0" anchor="ctr"/>
          <a:lstStyle/>
          <a:p>
            <a:pPr algn="ctr" indent="0" marL="0">
              <a:buNone/>
            </a:pPr>
            <a:r>
              <a:rPr lang="en-US" sz="1400" b="1" dirty="0">
                <a:solidFill>
                  <a:schemeClr val="bg1"/>
                </a:solidFill>
              </a:rPr>
              <a:t>DynamoDB</a:t>
            </a:r>
            <a:endParaRPr lang="en-US" sz="1400" dirty="0"/>
          </a:p>
        </p:txBody>
      </p:sp>
      <p:sp>
        <p:nvSpPr>
          <p:cNvPr id="26" name="DynamoDB caption"/>
          <p:cNvSpPr txBox="1"/>
          <p:nvPr/>
        </p:nvSpPr>
        <p:spPr>
          <a:xfrm>
            <a:off x="7223760" y="2816352"/>
            <a:ext cx="1417320" cy="256032"/>
          </a:xfrm>
          <a:prstGeom prst="rect">
            <a:avLst/>
          </a:prstGeom>
          <a:noFill/>
          <a:ln/>
        </p:spPr>
        <p:txBody>
          <a:bodyPr wrap="square" lIns="0" tIns="0" rIns="0" bIns="0" rtlCol="0" anchor="ctr"/>
          <a:lstStyle/>
          <a:p>
            <a:pPr algn="ctr" indent="0" marL="0">
              <a:buNone/>
            </a:pPr>
            <a:r>
              <a:rPr lang="en-US" sz="1100" dirty="0">
                <a:solidFill>
                  <a:schemeClr val="accent6"/>
                </a:solidFill>
              </a:rPr>
              <a:t>Visitor count</a:t>
            </a:r>
            <a:endParaRPr lang="en-US" sz="1100" dirty="0"/>
          </a:p>
        </p:txBody>
      </p:sp>
      <p:sp>
        <p:nvSpPr>
          <p:cNvPr id="27" name="GitHub node"/>
          <p:cNvSpPr/>
          <p:nvPr/>
        </p:nvSpPr>
        <p:spPr>
          <a:xfrm>
            <a:off x="457200" y="3611880"/>
            <a:ext cx="1417320" cy="731520"/>
          </a:xfrm>
          <a:prstGeom prst="roundRect">
            <a:avLst>
              <a:gd name="adj" fmla="val 12500"/>
            </a:avLst>
          </a:prstGeom>
          <a:solidFill>
            <a:schemeClr val="bg2"/>
          </a:solidFill>
          <a:ln w="12700">
            <a:solidFill>
              <a:schemeClr val="bg2"/>
            </a:solidFill>
            <a:prstDash val="solid"/>
          </a:ln>
        </p:spPr>
      </p:sp>
      <p:sp>
        <p:nvSpPr>
          <p:cNvPr id="28" name="GitHub label"/>
          <p:cNvSpPr txBox="1"/>
          <p:nvPr/>
        </p:nvSpPr>
        <p:spPr>
          <a:xfrm>
            <a:off x="457200" y="3685032"/>
            <a:ext cx="1417320" cy="320040"/>
          </a:xfrm>
          <a:prstGeom prst="rect">
            <a:avLst/>
          </a:prstGeom>
          <a:noFill/>
          <a:ln/>
        </p:spPr>
        <p:txBody>
          <a:bodyPr wrap="square" lIns="0" tIns="0" rIns="0" bIns="0" rtlCol="0" anchor="ctr"/>
          <a:lstStyle/>
          <a:p>
            <a:pPr algn="ctr" indent="0" marL="0">
              <a:buNone/>
            </a:pPr>
            <a:r>
              <a:rPr lang="en-US" sz="1400" b="1" dirty="0">
                <a:solidFill>
                  <a:schemeClr val="tx1"/>
                </a:solidFill>
              </a:rPr>
              <a:t>GitHub</a:t>
            </a:r>
            <a:endParaRPr lang="en-US" sz="1400" dirty="0"/>
          </a:p>
        </p:txBody>
      </p:sp>
      <p:sp>
        <p:nvSpPr>
          <p:cNvPr id="29" name="GitHub caption"/>
          <p:cNvSpPr txBox="1"/>
          <p:nvPr/>
        </p:nvSpPr>
        <p:spPr>
          <a:xfrm>
            <a:off x="457200" y="4005072"/>
            <a:ext cx="1417320" cy="256032"/>
          </a:xfrm>
          <a:prstGeom prst="rect">
            <a:avLst/>
          </a:prstGeom>
          <a:noFill/>
          <a:ln/>
        </p:spPr>
        <p:txBody>
          <a:bodyPr wrap="square" lIns="0" tIns="0" rIns="0" bIns="0" rtlCol="0" anchor="ctr"/>
          <a:lstStyle/>
          <a:p>
            <a:pPr algn="ctr" indent="0" marL="0">
              <a:buNone/>
            </a:pPr>
            <a:r>
              <a:rPr lang="en-US" sz="1100" dirty="0">
                <a:solidFill>
                  <a:schemeClr val="accent5"/>
                </a:solidFill>
              </a:rPr>
              <a:t>Resume source</a:t>
            </a:r>
            <a:endParaRPr lang="en-US" sz="1100" dirty="0"/>
          </a:p>
        </p:txBody>
      </p:sp>
      <p:sp>
        <p:nvSpPr>
          <p:cNvPr id="30" name="CodePipeline node"/>
          <p:cNvSpPr/>
          <p:nvPr/>
        </p:nvSpPr>
        <p:spPr>
          <a:xfrm>
            <a:off x="2148840" y="3611880"/>
            <a:ext cx="1417320" cy="731520"/>
          </a:xfrm>
          <a:prstGeom prst="roundRect">
            <a:avLst>
              <a:gd name="adj" fmla="val 12500"/>
            </a:avLst>
          </a:prstGeom>
          <a:solidFill>
            <a:schemeClr val="accent4"/>
          </a:solidFill>
          <a:ln w="12700">
            <a:solidFill>
              <a:schemeClr val="accent4"/>
            </a:solidFill>
            <a:prstDash val="solid"/>
          </a:ln>
        </p:spPr>
      </p:sp>
      <p:sp>
        <p:nvSpPr>
          <p:cNvPr id="31" name="CodePipeline label"/>
          <p:cNvSpPr txBox="1"/>
          <p:nvPr/>
        </p:nvSpPr>
        <p:spPr>
          <a:xfrm>
            <a:off x="2148840" y="3685032"/>
            <a:ext cx="1417320" cy="320040"/>
          </a:xfrm>
          <a:prstGeom prst="rect">
            <a:avLst/>
          </a:prstGeom>
          <a:noFill/>
          <a:ln/>
        </p:spPr>
        <p:txBody>
          <a:bodyPr wrap="square" lIns="0" tIns="0" rIns="0" bIns="0" rtlCol="0" anchor="ctr"/>
          <a:lstStyle/>
          <a:p>
            <a:pPr algn="ctr" indent="0" marL="0">
              <a:buNone/>
            </a:pPr>
            <a:r>
              <a:rPr lang="en-US" sz="1400" b="1" dirty="0">
                <a:solidFill>
                  <a:schemeClr val="bg1"/>
                </a:solidFill>
              </a:rPr>
              <a:t>CodePipeline</a:t>
            </a:r>
            <a:endParaRPr lang="en-US" sz="1400" dirty="0"/>
          </a:p>
        </p:txBody>
      </p:sp>
      <p:sp>
        <p:nvSpPr>
          <p:cNvPr id="32" name="CodePipeline caption"/>
          <p:cNvSpPr txBox="1"/>
          <p:nvPr/>
        </p:nvSpPr>
        <p:spPr>
          <a:xfrm>
            <a:off x="2148840" y="4005072"/>
            <a:ext cx="1417320" cy="256032"/>
          </a:xfrm>
          <a:prstGeom prst="rect">
            <a:avLst/>
          </a:prstGeom>
          <a:noFill/>
          <a:ln/>
        </p:spPr>
        <p:txBody>
          <a:bodyPr wrap="square" lIns="0" tIns="0" rIns="0" bIns="0" rtlCol="0" anchor="ctr"/>
          <a:lstStyle/>
          <a:p>
            <a:pPr algn="ctr" indent="0" marL="0">
              <a:buNone/>
            </a:pPr>
            <a:r>
              <a:rPr lang="en-US" sz="1100" dirty="0">
                <a:solidFill>
                  <a:schemeClr val="accent6"/>
                </a:solidFill>
              </a:rPr>
              <a:t>CI/CD build</a:t>
            </a:r>
            <a:endParaRPr lang="en-US" sz="1100" dirty="0"/>
          </a:p>
        </p:txBody>
      </p:sp>
      <p:sp>
        <p:nvSpPr>
          <p:cNvPr id="33" name="Arrow visitor-route"/>
          <p:cNvSpPr/>
          <p:nvPr/>
        </p:nvSpPr>
        <p:spPr>
          <a:xfrm>
            <a:off x="1901952" y="1600200"/>
            <a:ext cx="219456" cy="0"/>
          </a:xfrm>
          <a:prstGeom prst="line">
            <a:avLst/>
          </a:prstGeom>
          <a:noFill/>
          <a:ln w="25400">
            <a:solidFill>
              <a:schemeClr val="accent5"/>
            </a:solidFill>
            <a:prstDash val="solid"/>
            <a:tailEnd type="triangle"/>
          </a:ln>
        </p:spPr>
      </p:sp>
      <p:sp>
        <p:nvSpPr>
          <p:cNvPr id="34" name="Arrow route-cloudfront"/>
          <p:cNvSpPr/>
          <p:nvPr/>
        </p:nvSpPr>
        <p:spPr>
          <a:xfrm>
            <a:off x="3593592" y="1600200"/>
            <a:ext cx="219456" cy="0"/>
          </a:xfrm>
          <a:prstGeom prst="line">
            <a:avLst/>
          </a:prstGeom>
          <a:noFill/>
          <a:ln w="25400">
            <a:solidFill>
              <a:schemeClr val="accent5"/>
            </a:solidFill>
            <a:prstDash val="solid"/>
            <a:tailEnd type="triangle"/>
          </a:ln>
        </p:spPr>
      </p:sp>
      <p:sp>
        <p:nvSpPr>
          <p:cNvPr id="35" name="Arrow cloudfront-s3"/>
          <p:cNvSpPr/>
          <p:nvPr/>
        </p:nvSpPr>
        <p:spPr>
          <a:xfrm>
            <a:off x="5285232" y="1600200"/>
            <a:ext cx="219456" cy="0"/>
          </a:xfrm>
          <a:prstGeom prst="line">
            <a:avLst/>
          </a:prstGeom>
          <a:noFill/>
          <a:ln w="25400">
            <a:solidFill>
              <a:schemeClr val="accent5"/>
            </a:solidFill>
            <a:prstDash val="solid"/>
            <a:tailEnd type="triangle"/>
          </a:ln>
        </p:spPr>
      </p:sp>
      <p:sp>
        <p:nvSpPr>
          <p:cNvPr id="36" name="Arrow api-lambda"/>
          <p:cNvSpPr/>
          <p:nvPr/>
        </p:nvSpPr>
        <p:spPr>
          <a:xfrm>
            <a:off x="5285232" y="2788920"/>
            <a:ext cx="219456" cy="0"/>
          </a:xfrm>
          <a:prstGeom prst="line">
            <a:avLst/>
          </a:prstGeom>
          <a:noFill/>
          <a:ln w="25400">
            <a:solidFill>
              <a:schemeClr val="accent5"/>
            </a:solidFill>
            <a:prstDash val="solid"/>
            <a:tailEnd type="triangle"/>
          </a:ln>
        </p:spPr>
      </p:sp>
      <p:sp>
        <p:nvSpPr>
          <p:cNvPr id="37" name="Arrow lambda-dynamodb"/>
          <p:cNvSpPr/>
          <p:nvPr/>
        </p:nvSpPr>
        <p:spPr>
          <a:xfrm>
            <a:off x="6976872" y="2788920"/>
            <a:ext cx="219456" cy="0"/>
          </a:xfrm>
          <a:prstGeom prst="line">
            <a:avLst/>
          </a:prstGeom>
          <a:noFill/>
          <a:ln w="25400">
            <a:solidFill>
              <a:schemeClr val="accent5"/>
            </a:solidFill>
            <a:prstDash val="solid"/>
            <a:tailEnd type="triangle"/>
          </a:ln>
        </p:spPr>
      </p:sp>
      <p:sp>
        <p:nvSpPr>
          <p:cNvPr id="38" name="Arrow github-pipeline"/>
          <p:cNvSpPr/>
          <p:nvPr/>
        </p:nvSpPr>
        <p:spPr>
          <a:xfrm>
            <a:off x="1901952" y="3977640"/>
            <a:ext cx="219456" cy="0"/>
          </a:xfrm>
          <a:prstGeom prst="line">
            <a:avLst/>
          </a:prstGeom>
          <a:noFill/>
          <a:ln w="25400">
            <a:solidFill>
              <a:schemeClr val="accent5"/>
            </a:solidFill>
            <a:prstDash val="solid"/>
            <a:tailEnd type="triangle"/>
          </a:ln>
        </p:spPr>
      </p:sp>
      <p:sp>
        <p:nvSpPr>
          <p:cNvPr id="39" name="Arrow cloudfront-api"/>
          <p:cNvSpPr/>
          <p:nvPr/>
        </p:nvSpPr>
        <p:spPr>
          <a:xfrm>
            <a:off x="4549140" y="1993392"/>
            <a:ext cx="0" cy="402336"/>
          </a:xfrm>
          <a:prstGeom prst="line">
            <a:avLst/>
          </a:prstGeom>
          <a:noFill/>
          <a:ln w="25400">
            <a:solidFill>
              <a:schemeClr val="accent5"/>
            </a:solidFill>
            <a:prstDash val="solid"/>
            <a:tailEnd type="triangle"/>
          </a:ln>
        </p:spPr>
      </p:sp>
      <p:sp>
        <p:nvSpPr>
          <p:cNvPr id="40" name="Arrow acm-cloudfront"/>
          <p:cNvSpPr/>
          <p:nvPr/>
        </p:nvSpPr>
        <p:spPr>
          <a:xfrm flipV="1">
            <a:off x="3593592" y="1993392"/>
            <a:ext cx="457200" cy="566928"/>
          </a:xfrm>
          <a:prstGeom prst="line">
            <a:avLst/>
          </a:prstGeom>
          <a:noFill/>
          <a:ln w="19050">
            <a:solidFill>
              <a:schemeClr val="accent5"/>
            </a:solidFill>
            <a:prstDash val="dash"/>
            <a:tailEnd type="triangle"/>
          </a:ln>
        </p:spPr>
      </p:sp>
      <p:sp>
        <p:nvSpPr>
          <p:cNvPr id="41" name="CI/CD note"/>
          <p:cNvSpPr txBox="1"/>
          <p:nvPr/>
        </p:nvSpPr>
        <p:spPr>
          <a:xfrm>
            <a:off x="3931920" y="3749040"/>
            <a:ext cx="4754880" cy="457200"/>
          </a:xfrm>
          <a:prstGeom prst="rect">
            <a:avLst/>
          </a:prstGeom>
          <a:noFill/>
          <a:ln/>
        </p:spPr>
        <p:txBody>
          <a:bodyPr wrap="square" lIns="0" tIns="0" rIns="0" bIns="0" rtlCol="0" anchor="ctr"/>
          <a:lstStyle/>
          <a:p>
            <a:pPr indent="0" marL="0">
              <a:buNone/>
            </a:pPr>
            <a:r>
              <a:rPr lang="en-US" sz="1400" dirty="0">
                <a:solidFill>
                  <a:schemeClr val="accent5"/>
                </a:solidFill>
              </a:rPr>
              <a:t>CodePipeline deploys each build to S3 and refreshes the CloudFront cache</a:t>
            </a:r>
            <a:endParaRPr lang="en-US" sz="1400" dirty="0"/>
          </a:p>
        </p:txBody>
      </p:sp>
      <p:sp>
        <p:nvSpPr>
          <p:cNvPr id="42" name="Core legend swatch"/>
          <p:cNvSpPr/>
          <p:nvPr/>
        </p:nvSpPr>
        <p:spPr>
          <a:xfrm>
            <a:off x="457200" y="4526280"/>
            <a:ext cx="201168" cy="128016"/>
          </a:xfrm>
          <a:prstGeom prst="roundRect">
            <a:avLst>
              <a:gd name="adj" fmla="val 71429"/>
            </a:avLst>
          </a:prstGeom>
          <a:solidFill>
            <a:schemeClr val="accent1"/>
          </a:solidFill>
          <a:ln w="12700">
            <a:solidFill>
              <a:schemeClr val="accent1"/>
            </a:solidFill>
            <a:prstDash val="solid"/>
          </a:ln>
        </p:spPr>
      </p:sp>
      <p:sp>
        <p:nvSpPr>
          <p:cNvPr id="43" name="Legend text"/>
          <p:cNvSpPr txBox="1"/>
          <p:nvPr/>
        </p:nvSpPr>
        <p:spPr>
          <a:xfrm>
            <a:off x="749808" y="4480560"/>
            <a:ext cx="3657600" cy="219456"/>
          </a:xfrm>
          <a:prstGeom prst="rect">
            <a:avLst/>
          </a:prstGeom>
          <a:noFill/>
          <a:ln/>
        </p:spPr>
        <p:txBody>
          <a:bodyPr wrap="square" lIns="0" tIns="0" rIns="0" bIns="0" rtlCol="0" anchor="ctr"/>
          <a:lstStyle/>
          <a:p>
            <a:pPr indent="0" marL="0">
              <a:buNone/>
            </a:pPr>
            <a:r>
              <a:rPr lang="en-US" sz="1100" dirty="0">
                <a:solidFill>
                  <a:schemeClr val="accent5"/>
                </a:solidFill>
              </a:rPr>
              <a:t>Core services used in this project</a:t>
            </a:r>
            <a:endParaRPr lang="en-US" sz="11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Core Modules</a:t>
            </a:r>
            <a:endParaRPr lang="en-US" sz="3600" dirty="0"/>
          </a:p>
        </p:txBody>
      </p:sp>
      <p:sp>
        <p:nvSpPr>
          <p:cNvPr id="3" name="Module 1 card"/>
          <p:cNvSpPr/>
          <p:nvPr/>
        </p:nvSpPr>
        <p:spPr>
          <a:xfrm>
            <a:off x="457200" y="1188720"/>
            <a:ext cx="2651760" cy="1600200"/>
          </a:xfrm>
          <a:prstGeom prst="roundRect">
            <a:avLst>
              <a:gd name="adj" fmla="val 5714"/>
            </a:avLst>
          </a:prstGeom>
          <a:solidFill>
            <a:schemeClr val="bg2"/>
          </a:solidFill>
          <a:ln w="12700">
            <a:solidFill>
              <a:schemeClr val="bg2"/>
            </a:solidFill>
            <a:prstDash val="solid"/>
          </a:ln>
        </p:spPr>
      </p:sp>
      <p:sp>
        <p:nvSpPr>
          <p:cNvPr id="4" name="Module 1 circle"/>
          <p:cNvSpPr/>
          <p:nvPr/>
        </p:nvSpPr>
        <p:spPr>
          <a:xfrm>
            <a:off x="640080" y="1353312"/>
            <a:ext cx="502920" cy="502920"/>
          </a:xfrm>
          <a:prstGeom prst="ellipse">
            <a:avLst/>
          </a:prstGeom>
          <a:solidFill>
            <a:schemeClr val="accent1"/>
          </a:solidFill>
          <a:ln w="12700">
            <a:solidFill>
              <a:schemeClr val="accent1"/>
            </a:solidFill>
            <a:prstDash val="solid"/>
          </a:ln>
        </p:spPr>
      </p:sp>
      <p:pic>
        <p:nvPicPr>
          <p:cNvPr id="5" name="Module 1 icon" descr="Module 1">    </p:cNvPr>
          <p:cNvPicPr>
            <a:picLocks noChangeAspect="1"/>
          </p:cNvPicPr>
          <p:nvPr/>
        </p:nvPicPr>
        <p:blipFill>
          <a:blip r:embed="rId1"/>
          <a:stretch>
            <a:fillRect/>
          </a:stretch>
        </p:blipFill>
        <p:spPr>
          <a:xfrm>
            <a:off x="765810" y="1479042"/>
            <a:ext cx="251460" cy="251460"/>
          </a:xfrm>
          <a:prstGeom prst="rect">
            <a:avLst/>
          </a:prstGeom>
        </p:spPr>
      </p:pic>
      <p:sp>
        <p:nvSpPr>
          <p:cNvPr id="6" name="Module 1 title"/>
          <p:cNvSpPr txBox="1"/>
          <p:nvPr/>
        </p:nvSpPr>
        <p:spPr>
          <a:xfrm>
            <a:off x="1280160" y="1353312"/>
            <a:ext cx="1737360" cy="502920"/>
          </a:xfrm>
          <a:prstGeom prst="rect">
            <a:avLst/>
          </a:prstGeom>
          <a:noFill/>
          <a:ln/>
        </p:spPr>
        <p:txBody>
          <a:bodyPr wrap="square" lIns="0" tIns="0" rIns="0" bIns="0" rtlCol="0" anchor="ctr"/>
          <a:lstStyle/>
          <a:p>
            <a:pPr indent="0" marL="0">
              <a:buNone/>
            </a:pPr>
            <a:r>
              <a:rPr lang="en-US" sz="1600" b="1" dirty="0">
                <a:solidFill>
                  <a:schemeClr val="tx1"/>
                </a:solidFill>
              </a:rPr>
              <a:t>Access control</a:t>
            </a:r>
            <a:endParaRPr lang="en-US" sz="1600" dirty="0"/>
          </a:p>
        </p:txBody>
      </p:sp>
      <p:sp>
        <p:nvSpPr>
          <p:cNvPr id="7" name="Module 1 text"/>
          <p:cNvSpPr txBox="1"/>
          <p:nvPr/>
        </p:nvSpPr>
        <p:spPr>
          <a:xfrm>
            <a:off x="640080" y="1993392"/>
            <a:ext cx="2331720" cy="731520"/>
          </a:xfrm>
          <a:prstGeom prst="rect">
            <a:avLst/>
          </a:prstGeom>
          <a:noFill/>
          <a:ln/>
        </p:spPr>
        <p:txBody>
          <a:bodyPr wrap="square" lIns="0" tIns="0" rIns="0" bIns="0" rtlCol="0" anchor="t"/>
          <a:lstStyle/>
          <a:p>
            <a:pPr indent="0" marL="0">
              <a:buNone/>
            </a:pPr>
            <a:r>
              <a:rPr lang="en-US" sz="1400" dirty="0">
                <a:solidFill>
                  <a:schemeClr val="tx1"/>
                </a:solidFill>
              </a:rPr>
              <a:t>IAM roles and policies: Administrator, Developer, User</a:t>
            </a:r>
            <a:endParaRPr lang="en-US" sz="1400" dirty="0"/>
          </a:p>
        </p:txBody>
      </p:sp>
      <p:sp>
        <p:nvSpPr>
          <p:cNvPr id="8" name="Module 2 card"/>
          <p:cNvSpPr/>
          <p:nvPr/>
        </p:nvSpPr>
        <p:spPr>
          <a:xfrm>
            <a:off x="3246120" y="1188720"/>
            <a:ext cx="2651760" cy="1600200"/>
          </a:xfrm>
          <a:prstGeom prst="roundRect">
            <a:avLst>
              <a:gd name="adj" fmla="val 5714"/>
            </a:avLst>
          </a:prstGeom>
          <a:solidFill>
            <a:schemeClr val="bg2"/>
          </a:solidFill>
          <a:ln w="12700">
            <a:solidFill>
              <a:schemeClr val="bg2"/>
            </a:solidFill>
            <a:prstDash val="solid"/>
          </a:ln>
        </p:spPr>
      </p:sp>
      <p:sp>
        <p:nvSpPr>
          <p:cNvPr id="9" name="Module 2 circle"/>
          <p:cNvSpPr/>
          <p:nvPr/>
        </p:nvSpPr>
        <p:spPr>
          <a:xfrm>
            <a:off x="3429000" y="1353312"/>
            <a:ext cx="502920" cy="502920"/>
          </a:xfrm>
          <a:prstGeom prst="ellipse">
            <a:avLst/>
          </a:prstGeom>
          <a:solidFill>
            <a:schemeClr val="accent1"/>
          </a:solidFill>
          <a:ln w="12700">
            <a:solidFill>
              <a:schemeClr val="accent1"/>
            </a:solidFill>
            <a:prstDash val="solid"/>
          </a:ln>
        </p:spPr>
      </p:sp>
      <p:pic>
        <p:nvPicPr>
          <p:cNvPr id="10" name="Module 2 icon" descr="Module 2">    </p:cNvPr>
          <p:cNvPicPr>
            <a:picLocks noChangeAspect="1"/>
          </p:cNvPicPr>
          <p:nvPr/>
        </p:nvPicPr>
        <p:blipFill>
          <a:blip r:embed="rId2"/>
          <a:stretch>
            <a:fillRect/>
          </a:stretch>
        </p:blipFill>
        <p:spPr>
          <a:xfrm>
            <a:off x="3554730" y="1479042"/>
            <a:ext cx="251460" cy="251460"/>
          </a:xfrm>
          <a:prstGeom prst="rect">
            <a:avLst/>
          </a:prstGeom>
        </p:spPr>
      </p:pic>
      <p:sp>
        <p:nvSpPr>
          <p:cNvPr id="11" name="Module 2 title"/>
          <p:cNvSpPr txBox="1"/>
          <p:nvPr/>
        </p:nvSpPr>
        <p:spPr>
          <a:xfrm>
            <a:off x="4069080" y="1353312"/>
            <a:ext cx="1737360" cy="502920"/>
          </a:xfrm>
          <a:prstGeom prst="rect">
            <a:avLst/>
          </a:prstGeom>
          <a:noFill/>
          <a:ln/>
        </p:spPr>
        <p:txBody>
          <a:bodyPr wrap="square" lIns="0" tIns="0" rIns="0" bIns="0" rtlCol="0" anchor="ctr"/>
          <a:lstStyle/>
          <a:p>
            <a:pPr indent="0" marL="0">
              <a:buNone/>
            </a:pPr>
            <a:r>
              <a:rPr lang="en-US" sz="1600" b="1" dirty="0">
                <a:solidFill>
                  <a:schemeClr val="tx1"/>
                </a:solidFill>
              </a:rPr>
              <a:t>Resume storage</a:t>
            </a:r>
            <a:endParaRPr lang="en-US" sz="1600" dirty="0"/>
          </a:p>
        </p:txBody>
      </p:sp>
      <p:sp>
        <p:nvSpPr>
          <p:cNvPr id="12" name="Module 2 text"/>
          <p:cNvSpPr txBox="1"/>
          <p:nvPr/>
        </p:nvSpPr>
        <p:spPr>
          <a:xfrm>
            <a:off x="3429000" y="1993392"/>
            <a:ext cx="2331720" cy="731520"/>
          </a:xfrm>
          <a:prstGeom prst="rect">
            <a:avLst/>
          </a:prstGeom>
          <a:noFill/>
          <a:ln/>
        </p:spPr>
        <p:txBody>
          <a:bodyPr wrap="square" lIns="0" tIns="0" rIns="0" bIns="0" rtlCol="0" anchor="t"/>
          <a:lstStyle/>
          <a:p>
            <a:pPr indent="0" marL="0">
              <a:buNone/>
            </a:pPr>
            <a:r>
              <a:rPr lang="en-US" sz="1400" dirty="0">
                <a:solidFill>
                  <a:schemeClr val="tx1"/>
                </a:solidFill>
              </a:rPr>
              <a:t>Resume files kept as S3 objects, scalable and durable</a:t>
            </a:r>
            <a:endParaRPr lang="en-US" sz="1400" dirty="0"/>
          </a:p>
        </p:txBody>
      </p:sp>
      <p:sp>
        <p:nvSpPr>
          <p:cNvPr id="13" name="Module 3 card"/>
          <p:cNvSpPr/>
          <p:nvPr/>
        </p:nvSpPr>
        <p:spPr>
          <a:xfrm>
            <a:off x="6035040" y="1188720"/>
            <a:ext cx="2651760" cy="1600200"/>
          </a:xfrm>
          <a:prstGeom prst="roundRect">
            <a:avLst>
              <a:gd name="adj" fmla="val 5714"/>
            </a:avLst>
          </a:prstGeom>
          <a:solidFill>
            <a:schemeClr val="bg2"/>
          </a:solidFill>
          <a:ln w="12700">
            <a:solidFill>
              <a:schemeClr val="bg2"/>
            </a:solidFill>
            <a:prstDash val="solid"/>
          </a:ln>
        </p:spPr>
      </p:sp>
      <p:sp>
        <p:nvSpPr>
          <p:cNvPr id="14" name="Module 3 circle"/>
          <p:cNvSpPr/>
          <p:nvPr/>
        </p:nvSpPr>
        <p:spPr>
          <a:xfrm>
            <a:off x="6217920" y="1353312"/>
            <a:ext cx="502920" cy="502920"/>
          </a:xfrm>
          <a:prstGeom prst="ellipse">
            <a:avLst/>
          </a:prstGeom>
          <a:solidFill>
            <a:schemeClr val="accent1"/>
          </a:solidFill>
          <a:ln w="12700">
            <a:solidFill>
              <a:schemeClr val="accent1"/>
            </a:solidFill>
            <a:prstDash val="solid"/>
          </a:ln>
        </p:spPr>
      </p:sp>
      <p:pic>
        <p:nvPicPr>
          <p:cNvPr id="15" name="Module 3 icon" descr="Module 3">    </p:cNvPr>
          <p:cNvPicPr>
            <a:picLocks noChangeAspect="1"/>
          </p:cNvPicPr>
          <p:nvPr/>
        </p:nvPicPr>
        <p:blipFill>
          <a:blip r:embed="rId3"/>
          <a:stretch>
            <a:fillRect/>
          </a:stretch>
        </p:blipFill>
        <p:spPr>
          <a:xfrm>
            <a:off x="6343650" y="1479042"/>
            <a:ext cx="251460" cy="251460"/>
          </a:xfrm>
          <a:prstGeom prst="rect">
            <a:avLst/>
          </a:prstGeom>
        </p:spPr>
      </p:pic>
      <p:sp>
        <p:nvSpPr>
          <p:cNvPr id="16" name="Module 3 title"/>
          <p:cNvSpPr txBox="1"/>
          <p:nvPr/>
        </p:nvSpPr>
        <p:spPr>
          <a:xfrm>
            <a:off x="6858000" y="1353312"/>
            <a:ext cx="1737360" cy="502920"/>
          </a:xfrm>
          <a:prstGeom prst="rect">
            <a:avLst/>
          </a:prstGeom>
          <a:noFill/>
          <a:ln/>
        </p:spPr>
        <p:txBody>
          <a:bodyPr wrap="square" lIns="0" tIns="0" rIns="0" bIns="0" rtlCol="0" anchor="ctr"/>
          <a:lstStyle/>
          <a:p>
            <a:pPr indent="0" marL="0">
              <a:buNone/>
            </a:pPr>
            <a:r>
              <a:rPr lang="en-US" sz="1600" b="1" dirty="0">
                <a:solidFill>
                  <a:schemeClr val="tx1"/>
                </a:solidFill>
              </a:rPr>
              <a:t>Serverless processing</a:t>
            </a:r>
            <a:endParaRPr lang="en-US" sz="1600" dirty="0"/>
          </a:p>
        </p:txBody>
      </p:sp>
      <p:sp>
        <p:nvSpPr>
          <p:cNvPr id="17" name="Module 3 text"/>
          <p:cNvSpPr txBox="1"/>
          <p:nvPr/>
        </p:nvSpPr>
        <p:spPr>
          <a:xfrm>
            <a:off x="6217920" y="1993392"/>
            <a:ext cx="2331720" cy="731520"/>
          </a:xfrm>
          <a:prstGeom prst="rect">
            <a:avLst/>
          </a:prstGeom>
          <a:noFill/>
          <a:ln/>
        </p:spPr>
        <p:txBody>
          <a:bodyPr wrap="square" lIns="0" tIns="0" rIns="0" bIns="0" rtlCol="0" anchor="t"/>
          <a:lstStyle/>
          <a:p>
            <a:pPr indent="0" marL="0">
              <a:buNone/>
            </a:pPr>
            <a:r>
              <a:rPr lang="en-US" sz="1400" dirty="0">
                <a:solidFill>
                  <a:schemeClr val="tx1"/>
                </a:solidFill>
              </a:rPr>
              <a:t>Lambda runs backend logic on demand, no servers</a:t>
            </a:r>
            <a:endParaRPr lang="en-US" sz="1400" dirty="0"/>
          </a:p>
        </p:txBody>
      </p:sp>
      <p:sp>
        <p:nvSpPr>
          <p:cNvPr id="18" name="Module 4 card"/>
          <p:cNvSpPr/>
          <p:nvPr/>
        </p:nvSpPr>
        <p:spPr>
          <a:xfrm>
            <a:off x="457200" y="2926080"/>
            <a:ext cx="2651760" cy="1600200"/>
          </a:xfrm>
          <a:prstGeom prst="roundRect">
            <a:avLst>
              <a:gd name="adj" fmla="val 5714"/>
            </a:avLst>
          </a:prstGeom>
          <a:solidFill>
            <a:schemeClr val="bg2"/>
          </a:solidFill>
          <a:ln w="12700">
            <a:solidFill>
              <a:schemeClr val="bg2"/>
            </a:solidFill>
            <a:prstDash val="solid"/>
          </a:ln>
        </p:spPr>
      </p:sp>
      <p:sp>
        <p:nvSpPr>
          <p:cNvPr id="19" name="Module 4 circle"/>
          <p:cNvSpPr/>
          <p:nvPr/>
        </p:nvSpPr>
        <p:spPr>
          <a:xfrm>
            <a:off x="640080" y="3090672"/>
            <a:ext cx="502920" cy="502920"/>
          </a:xfrm>
          <a:prstGeom prst="ellipse">
            <a:avLst/>
          </a:prstGeom>
          <a:solidFill>
            <a:schemeClr val="accent1"/>
          </a:solidFill>
          <a:ln w="12700">
            <a:solidFill>
              <a:schemeClr val="accent1"/>
            </a:solidFill>
            <a:prstDash val="solid"/>
          </a:ln>
        </p:spPr>
      </p:sp>
      <p:pic>
        <p:nvPicPr>
          <p:cNvPr id="20" name="Module 4 icon" descr="Module 4">    </p:cNvPr>
          <p:cNvPicPr>
            <a:picLocks noChangeAspect="1"/>
          </p:cNvPicPr>
          <p:nvPr/>
        </p:nvPicPr>
        <p:blipFill>
          <a:blip r:embed="rId4"/>
          <a:stretch>
            <a:fillRect/>
          </a:stretch>
        </p:blipFill>
        <p:spPr>
          <a:xfrm>
            <a:off x="765810" y="3216402"/>
            <a:ext cx="251460" cy="251460"/>
          </a:xfrm>
          <a:prstGeom prst="rect">
            <a:avLst/>
          </a:prstGeom>
        </p:spPr>
      </p:pic>
      <p:sp>
        <p:nvSpPr>
          <p:cNvPr id="21" name="Module 4 title"/>
          <p:cNvSpPr txBox="1"/>
          <p:nvPr/>
        </p:nvSpPr>
        <p:spPr>
          <a:xfrm>
            <a:off x="1280160" y="3090672"/>
            <a:ext cx="1737360" cy="502920"/>
          </a:xfrm>
          <a:prstGeom prst="rect">
            <a:avLst/>
          </a:prstGeom>
          <a:noFill/>
          <a:ln/>
        </p:spPr>
        <p:txBody>
          <a:bodyPr wrap="square" lIns="0" tIns="0" rIns="0" bIns="0" rtlCol="0" anchor="ctr"/>
          <a:lstStyle/>
          <a:p>
            <a:pPr indent="0" marL="0">
              <a:buNone/>
            </a:pPr>
            <a:r>
              <a:rPr lang="en-US" sz="1600" b="1" dirty="0">
                <a:solidFill>
                  <a:schemeClr val="tx1"/>
                </a:solidFill>
              </a:rPr>
              <a:t>API management</a:t>
            </a:r>
            <a:endParaRPr lang="en-US" sz="1600" dirty="0"/>
          </a:p>
        </p:txBody>
      </p:sp>
      <p:sp>
        <p:nvSpPr>
          <p:cNvPr id="22" name="Module 4 text"/>
          <p:cNvSpPr txBox="1"/>
          <p:nvPr/>
        </p:nvSpPr>
        <p:spPr>
          <a:xfrm>
            <a:off x="640080" y="3730752"/>
            <a:ext cx="2331720" cy="731520"/>
          </a:xfrm>
          <a:prstGeom prst="rect">
            <a:avLst/>
          </a:prstGeom>
          <a:noFill/>
          <a:ln/>
        </p:spPr>
        <p:txBody>
          <a:bodyPr wrap="square" lIns="0" tIns="0" rIns="0" bIns="0" rtlCol="0" anchor="t"/>
          <a:lstStyle/>
          <a:p>
            <a:pPr indent="0" marL="0">
              <a:buNone/>
            </a:pPr>
            <a:r>
              <a:rPr lang="en-US" sz="1400" dirty="0">
                <a:solidFill>
                  <a:schemeClr val="tx1"/>
                </a:solidFill>
              </a:rPr>
              <a:t>HTTP endpoints connect the frontend to Lambda</a:t>
            </a:r>
            <a:endParaRPr lang="en-US" sz="1400" dirty="0"/>
          </a:p>
        </p:txBody>
      </p:sp>
      <p:sp>
        <p:nvSpPr>
          <p:cNvPr id="23" name="Module 5 card"/>
          <p:cNvSpPr/>
          <p:nvPr/>
        </p:nvSpPr>
        <p:spPr>
          <a:xfrm>
            <a:off x="3246120" y="2926080"/>
            <a:ext cx="2651760" cy="1600200"/>
          </a:xfrm>
          <a:prstGeom prst="roundRect">
            <a:avLst>
              <a:gd name="adj" fmla="val 5714"/>
            </a:avLst>
          </a:prstGeom>
          <a:solidFill>
            <a:schemeClr val="bg2"/>
          </a:solidFill>
          <a:ln w="12700">
            <a:solidFill>
              <a:schemeClr val="bg2"/>
            </a:solidFill>
            <a:prstDash val="solid"/>
          </a:ln>
        </p:spPr>
      </p:sp>
      <p:sp>
        <p:nvSpPr>
          <p:cNvPr id="24" name="Module 5 circle"/>
          <p:cNvSpPr/>
          <p:nvPr/>
        </p:nvSpPr>
        <p:spPr>
          <a:xfrm>
            <a:off x="3429000" y="3090672"/>
            <a:ext cx="502920" cy="502920"/>
          </a:xfrm>
          <a:prstGeom prst="ellipse">
            <a:avLst/>
          </a:prstGeom>
          <a:solidFill>
            <a:schemeClr val="accent1"/>
          </a:solidFill>
          <a:ln w="12700">
            <a:solidFill>
              <a:schemeClr val="accent1"/>
            </a:solidFill>
            <a:prstDash val="solid"/>
          </a:ln>
        </p:spPr>
      </p:sp>
      <p:pic>
        <p:nvPicPr>
          <p:cNvPr id="25" name="Module 5 icon" descr="Module 5">    </p:cNvPr>
          <p:cNvPicPr>
            <a:picLocks noChangeAspect="1"/>
          </p:cNvPicPr>
          <p:nvPr/>
        </p:nvPicPr>
        <p:blipFill>
          <a:blip r:embed="rId5"/>
          <a:stretch>
            <a:fillRect/>
          </a:stretch>
        </p:blipFill>
        <p:spPr>
          <a:xfrm>
            <a:off x="3554730" y="3216402"/>
            <a:ext cx="251460" cy="251460"/>
          </a:xfrm>
          <a:prstGeom prst="rect">
            <a:avLst/>
          </a:prstGeom>
        </p:spPr>
      </p:pic>
      <p:sp>
        <p:nvSpPr>
          <p:cNvPr id="26" name="Module 5 title"/>
          <p:cNvSpPr txBox="1"/>
          <p:nvPr/>
        </p:nvSpPr>
        <p:spPr>
          <a:xfrm>
            <a:off x="4069080" y="3090672"/>
            <a:ext cx="1737360" cy="502920"/>
          </a:xfrm>
          <a:prstGeom prst="rect">
            <a:avLst/>
          </a:prstGeom>
          <a:noFill/>
          <a:ln/>
        </p:spPr>
        <p:txBody>
          <a:bodyPr wrap="square" lIns="0" tIns="0" rIns="0" bIns="0" rtlCol="0" anchor="ctr"/>
          <a:lstStyle/>
          <a:p>
            <a:pPr indent="0" marL="0">
              <a:buNone/>
            </a:pPr>
            <a:r>
              <a:rPr lang="en-US" sz="1600" b="1" dirty="0">
                <a:solidFill>
                  <a:schemeClr val="tx1"/>
                </a:solidFill>
              </a:rPr>
              <a:t>Static website</a:t>
            </a:r>
            <a:endParaRPr lang="en-US" sz="1600" dirty="0"/>
          </a:p>
        </p:txBody>
      </p:sp>
      <p:sp>
        <p:nvSpPr>
          <p:cNvPr id="27" name="Module 5 text"/>
          <p:cNvSpPr txBox="1"/>
          <p:nvPr/>
        </p:nvSpPr>
        <p:spPr>
          <a:xfrm>
            <a:off x="3429000" y="3730752"/>
            <a:ext cx="2331720" cy="731520"/>
          </a:xfrm>
          <a:prstGeom prst="rect">
            <a:avLst/>
          </a:prstGeom>
          <a:noFill/>
          <a:ln/>
        </p:spPr>
        <p:txBody>
          <a:bodyPr wrap="square" lIns="0" tIns="0" rIns="0" bIns="0" rtlCol="0" anchor="t"/>
          <a:lstStyle/>
          <a:p>
            <a:pPr indent="0" marL="0">
              <a:buNone/>
            </a:pPr>
            <a:r>
              <a:rPr lang="en-US" sz="1400" dirty="0">
                <a:solidFill>
                  <a:schemeClr val="tx1"/>
                </a:solidFill>
              </a:rPr>
              <a:t>HTML, CSS and JS hosted from an S3 bucket</a:t>
            </a:r>
            <a:endParaRPr lang="en-US" sz="1400" dirty="0"/>
          </a:p>
        </p:txBody>
      </p:sp>
      <p:sp>
        <p:nvSpPr>
          <p:cNvPr id="28" name="Module 6 card"/>
          <p:cNvSpPr/>
          <p:nvPr/>
        </p:nvSpPr>
        <p:spPr>
          <a:xfrm>
            <a:off x="6035040" y="2926080"/>
            <a:ext cx="2651760" cy="1600200"/>
          </a:xfrm>
          <a:prstGeom prst="roundRect">
            <a:avLst>
              <a:gd name="adj" fmla="val 5714"/>
            </a:avLst>
          </a:prstGeom>
          <a:solidFill>
            <a:schemeClr val="bg2"/>
          </a:solidFill>
          <a:ln w="12700">
            <a:solidFill>
              <a:schemeClr val="bg2"/>
            </a:solidFill>
            <a:prstDash val="solid"/>
          </a:ln>
        </p:spPr>
      </p:sp>
      <p:sp>
        <p:nvSpPr>
          <p:cNvPr id="29" name="Module 6 circle"/>
          <p:cNvSpPr/>
          <p:nvPr/>
        </p:nvSpPr>
        <p:spPr>
          <a:xfrm>
            <a:off x="6217920" y="3090672"/>
            <a:ext cx="502920" cy="502920"/>
          </a:xfrm>
          <a:prstGeom prst="ellipse">
            <a:avLst/>
          </a:prstGeom>
          <a:solidFill>
            <a:schemeClr val="accent1"/>
          </a:solidFill>
          <a:ln w="12700">
            <a:solidFill>
              <a:schemeClr val="accent1"/>
            </a:solidFill>
            <a:prstDash val="solid"/>
          </a:ln>
        </p:spPr>
      </p:sp>
      <p:pic>
        <p:nvPicPr>
          <p:cNvPr id="30" name="Module 6 icon" descr="Module 6">    </p:cNvPr>
          <p:cNvPicPr>
            <a:picLocks noChangeAspect="1"/>
          </p:cNvPicPr>
          <p:nvPr/>
        </p:nvPicPr>
        <p:blipFill>
          <a:blip r:embed="rId6"/>
          <a:stretch>
            <a:fillRect/>
          </a:stretch>
        </p:blipFill>
        <p:spPr>
          <a:xfrm>
            <a:off x="6343650" y="3216402"/>
            <a:ext cx="251460" cy="251460"/>
          </a:xfrm>
          <a:prstGeom prst="rect">
            <a:avLst/>
          </a:prstGeom>
        </p:spPr>
      </p:pic>
      <p:sp>
        <p:nvSpPr>
          <p:cNvPr id="31" name="Module 6 title"/>
          <p:cNvSpPr txBox="1"/>
          <p:nvPr/>
        </p:nvSpPr>
        <p:spPr>
          <a:xfrm>
            <a:off x="6858000" y="3090672"/>
            <a:ext cx="1737360" cy="502920"/>
          </a:xfrm>
          <a:prstGeom prst="rect">
            <a:avLst/>
          </a:prstGeom>
          <a:noFill/>
          <a:ln/>
        </p:spPr>
        <p:txBody>
          <a:bodyPr wrap="square" lIns="0" tIns="0" rIns="0" bIns="0" rtlCol="0" anchor="ctr"/>
          <a:lstStyle/>
          <a:p>
            <a:pPr indent="0" marL="0">
              <a:buNone/>
            </a:pPr>
            <a:r>
              <a:rPr lang="en-US" sz="1600" b="1" dirty="0">
                <a:solidFill>
                  <a:schemeClr val="tx1"/>
                </a:solidFill>
              </a:rPr>
              <a:t>Access and monitoring</a:t>
            </a:r>
            <a:endParaRPr lang="en-US" sz="1600" dirty="0"/>
          </a:p>
        </p:txBody>
      </p:sp>
      <p:sp>
        <p:nvSpPr>
          <p:cNvPr id="32" name="Module 6 text"/>
          <p:cNvSpPr txBox="1"/>
          <p:nvPr/>
        </p:nvSpPr>
        <p:spPr>
          <a:xfrm>
            <a:off x="6217920" y="3730752"/>
            <a:ext cx="2331720" cy="731520"/>
          </a:xfrm>
          <a:prstGeom prst="rect">
            <a:avLst/>
          </a:prstGeom>
          <a:noFill/>
          <a:ln/>
        </p:spPr>
        <p:txBody>
          <a:bodyPr wrap="square" lIns="0" tIns="0" rIns="0" bIns="0" rtlCol="0" anchor="t"/>
          <a:lstStyle/>
          <a:p>
            <a:pPr indent="0" marL="0">
              <a:buNone/>
            </a:pPr>
            <a:r>
              <a:rPr lang="en-US" sz="1400" dirty="0">
                <a:solidFill>
                  <a:schemeClr val="tx1"/>
                </a:solidFill>
              </a:rPr>
              <a:t>Tracks operations and flags access issues</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How a Request Flows</a:t>
            </a:r>
            <a:endParaRPr lang="en-US" sz="3600" dirty="0"/>
          </a:p>
        </p:txBody>
      </p:sp>
      <p:sp>
        <p:nvSpPr>
          <p:cNvPr id="3" name="Flow 1 heading"/>
          <p:cNvSpPr txBox="1"/>
          <p:nvPr/>
        </p:nvSpPr>
        <p:spPr>
          <a:xfrm>
            <a:off x="457200" y="1143000"/>
            <a:ext cx="5486400" cy="320040"/>
          </a:xfrm>
          <a:prstGeom prst="rect">
            <a:avLst/>
          </a:prstGeom>
          <a:noFill/>
          <a:ln/>
        </p:spPr>
        <p:txBody>
          <a:bodyPr wrap="square" lIns="0" tIns="0" rIns="0" bIns="0" rtlCol="0" anchor="ctr"/>
          <a:lstStyle/>
          <a:p>
            <a:pPr indent="0" marL="0">
              <a:buNone/>
            </a:pPr>
            <a:r>
              <a:rPr lang="en-US" sz="1800" b="1" dirty="0">
                <a:solidFill>
                  <a:schemeClr val="tx1"/>
                </a:solidFill>
              </a:rPr>
              <a:t>Resume upload and storage</a:t>
            </a:r>
            <a:endParaRPr lang="en-US" sz="1800" dirty="0"/>
          </a:p>
        </p:txBody>
      </p:sp>
      <p:sp>
        <p:nvSpPr>
          <p:cNvPr id="4" name="Flow 1 step 1"/>
          <p:cNvSpPr/>
          <p:nvPr/>
        </p:nvSpPr>
        <p:spPr>
          <a:xfrm>
            <a:off x="457200" y="1554480"/>
            <a:ext cx="1463040" cy="914400"/>
          </a:xfrm>
          <a:prstGeom prst="roundRect">
            <a:avLst>
              <a:gd name="adj" fmla="val 10000"/>
            </a:avLst>
          </a:prstGeom>
          <a:solidFill>
            <a:schemeClr val="accent1"/>
          </a:solidFill>
          <a:ln w="12700">
            <a:solidFill>
              <a:schemeClr val="accent1"/>
            </a:solidFill>
            <a:prstDash val="solid"/>
          </a:ln>
        </p:spPr>
      </p:sp>
      <p:sp>
        <p:nvSpPr>
          <p:cNvPr id="5" name="Flow 1 step 1 text"/>
          <p:cNvSpPr txBox="1"/>
          <p:nvPr/>
        </p:nvSpPr>
        <p:spPr>
          <a:xfrm>
            <a:off x="530352" y="1554480"/>
            <a:ext cx="1316736" cy="914400"/>
          </a:xfrm>
          <a:prstGeom prst="rect">
            <a:avLst/>
          </a:prstGeom>
          <a:noFill/>
          <a:ln/>
        </p:spPr>
        <p:txBody>
          <a:bodyPr wrap="square" lIns="0" tIns="0" rIns="0" bIns="0" rtlCol="0" anchor="ctr"/>
          <a:lstStyle/>
          <a:p>
            <a:pPr algn="ctr" indent="0" marL="0">
              <a:buNone/>
            </a:pPr>
            <a:r>
              <a:rPr lang="en-US" sz="1400" b="1" dirty="0">
                <a:solidFill>
                  <a:schemeClr val="tx1"/>
                </a:solidFill>
              </a:rPr>
              <a:t>Select resume file</a:t>
            </a:r>
            <a:endParaRPr lang="en-US" sz="1400" dirty="0"/>
          </a:p>
        </p:txBody>
      </p:sp>
      <p:sp>
        <p:nvSpPr>
          <p:cNvPr id="6" name="Flow 1 arrow 1"/>
          <p:cNvSpPr/>
          <p:nvPr/>
        </p:nvSpPr>
        <p:spPr>
          <a:xfrm>
            <a:off x="1947672" y="2011680"/>
            <a:ext cx="173736" cy="0"/>
          </a:xfrm>
          <a:prstGeom prst="line">
            <a:avLst/>
          </a:prstGeom>
          <a:noFill/>
          <a:ln w="25400">
            <a:solidFill>
              <a:schemeClr val="accent5"/>
            </a:solidFill>
            <a:prstDash val="solid"/>
            <a:tailEnd type="triangle"/>
          </a:ln>
        </p:spPr>
      </p:sp>
      <p:sp>
        <p:nvSpPr>
          <p:cNvPr id="7" name="Flow 1 step 2"/>
          <p:cNvSpPr/>
          <p:nvPr/>
        </p:nvSpPr>
        <p:spPr>
          <a:xfrm>
            <a:off x="2148840" y="1554480"/>
            <a:ext cx="1463040" cy="914400"/>
          </a:xfrm>
          <a:prstGeom prst="roundRect">
            <a:avLst>
              <a:gd name="adj" fmla="val 10000"/>
            </a:avLst>
          </a:prstGeom>
          <a:solidFill>
            <a:schemeClr val="bg2"/>
          </a:solidFill>
          <a:ln w="12700">
            <a:solidFill>
              <a:schemeClr val="bg2"/>
            </a:solidFill>
            <a:prstDash val="solid"/>
          </a:ln>
        </p:spPr>
      </p:sp>
      <p:sp>
        <p:nvSpPr>
          <p:cNvPr id="8" name="Flow 1 step 2 text"/>
          <p:cNvSpPr txBox="1"/>
          <p:nvPr/>
        </p:nvSpPr>
        <p:spPr>
          <a:xfrm>
            <a:off x="2221992" y="1554480"/>
            <a:ext cx="1316736" cy="914400"/>
          </a:xfrm>
          <a:prstGeom prst="rect">
            <a:avLst/>
          </a:prstGeom>
          <a:noFill/>
          <a:ln/>
        </p:spPr>
        <p:txBody>
          <a:bodyPr wrap="square" lIns="0" tIns="0" rIns="0" bIns="0" rtlCol="0" anchor="ctr"/>
          <a:lstStyle/>
          <a:p>
            <a:pPr algn="ctr" indent="0" marL="0">
              <a:buNone/>
            </a:pPr>
            <a:r>
              <a:rPr lang="en-US" sz="1400" b="1" dirty="0">
                <a:solidFill>
                  <a:schemeClr val="tx1"/>
                </a:solidFill>
              </a:rPr>
              <a:t>Validate type and size</a:t>
            </a:r>
            <a:endParaRPr lang="en-US" sz="1400" dirty="0"/>
          </a:p>
        </p:txBody>
      </p:sp>
      <p:sp>
        <p:nvSpPr>
          <p:cNvPr id="9" name="Flow 1 arrow 2"/>
          <p:cNvSpPr/>
          <p:nvPr/>
        </p:nvSpPr>
        <p:spPr>
          <a:xfrm>
            <a:off x="3639312" y="2011680"/>
            <a:ext cx="173736" cy="0"/>
          </a:xfrm>
          <a:prstGeom prst="line">
            <a:avLst/>
          </a:prstGeom>
          <a:noFill/>
          <a:ln w="25400">
            <a:solidFill>
              <a:schemeClr val="accent5"/>
            </a:solidFill>
            <a:prstDash val="solid"/>
            <a:tailEnd type="triangle"/>
          </a:ln>
        </p:spPr>
      </p:sp>
      <p:sp>
        <p:nvSpPr>
          <p:cNvPr id="10" name="Flow 1 step 3"/>
          <p:cNvSpPr/>
          <p:nvPr/>
        </p:nvSpPr>
        <p:spPr>
          <a:xfrm>
            <a:off x="3840480" y="1554480"/>
            <a:ext cx="1463040" cy="914400"/>
          </a:xfrm>
          <a:prstGeom prst="roundRect">
            <a:avLst>
              <a:gd name="adj" fmla="val 10000"/>
            </a:avLst>
          </a:prstGeom>
          <a:solidFill>
            <a:schemeClr val="bg2"/>
          </a:solidFill>
          <a:ln w="12700">
            <a:solidFill>
              <a:schemeClr val="bg2"/>
            </a:solidFill>
            <a:prstDash val="solid"/>
          </a:ln>
        </p:spPr>
      </p:sp>
      <p:sp>
        <p:nvSpPr>
          <p:cNvPr id="11" name="Flow 1 step 3 text"/>
          <p:cNvSpPr txBox="1"/>
          <p:nvPr/>
        </p:nvSpPr>
        <p:spPr>
          <a:xfrm>
            <a:off x="3913632" y="1554480"/>
            <a:ext cx="1316736" cy="914400"/>
          </a:xfrm>
          <a:prstGeom prst="rect">
            <a:avLst/>
          </a:prstGeom>
          <a:noFill/>
          <a:ln/>
        </p:spPr>
        <p:txBody>
          <a:bodyPr wrap="square" lIns="0" tIns="0" rIns="0" bIns="0" rtlCol="0" anchor="ctr"/>
          <a:lstStyle/>
          <a:p>
            <a:pPr algn="ctr" indent="0" marL="0">
              <a:buNone/>
            </a:pPr>
            <a:r>
              <a:rPr lang="en-US" sz="1400" b="1" dirty="0">
                <a:solidFill>
                  <a:schemeClr val="tx1"/>
                </a:solidFill>
              </a:rPr>
              <a:t>Store as S3 object</a:t>
            </a:r>
            <a:endParaRPr lang="en-US" sz="1400" dirty="0"/>
          </a:p>
        </p:txBody>
      </p:sp>
      <p:sp>
        <p:nvSpPr>
          <p:cNvPr id="12" name="Flow 1 arrow 3"/>
          <p:cNvSpPr/>
          <p:nvPr/>
        </p:nvSpPr>
        <p:spPr>
          <a:xfrm>
            <a:off x="5330952" y="2011680"/>
            <a:ext cx="173736" cy="0"/>
          </a:xfrm>
          <a:prstGeom prst="line">
            <a:avLst/>
          </a:prstGeom>
          <a:noFill/>
          <a:ln w="25400">
            <a:solidFill>
              <a:schemeClr val="accent5"/>
            </a:solidFill>
            <a:prstDash val="solid"/>
            <a:tailEnd type="triangle"/>
          </a:ln>
        </p:spPr>
      </p:sp>
      <p:sp>
        <p:nvSpPr>
          <p:cNvPr id="13" name="Flow 1 step 4"/>
          <p:cNvSpPr/>
          <p:nvPr/>
        </p:nvSpPr>
        <p:spPr>
          <a:xfrm>
            <a:off x="5532120" y="1554480"/>
            <a:ext cx="1463040" cy="914400"/>
          </a:xfrm>
          <a:prstGeom prst="roundRect">
            <a:avLst>
              <a:gd name="adj" fmla="val 10000"/>
            </a:avLst>
          </a:prstGeom>
          <a:solidFill>
            <a:schemeClr val="bg2"/>
          </a:solidFill>
          <a:ln w="12700">
            <a:solidFill>
              <a:schemeClr val="bg2"/>
            </a:solidFill>
            <a:prstDash val="solid"/>
          </a:ln>
        </p:spPr>
      </p:sp>
      <p:sp>
        <p:nvSpPr>
          <p:cNvPr id="14" name="Flow 1 step 4 text"/>
          <p:cNvSpPr txBox="1"/>
          <p:nvPr/>
        </p:nvSpPr>
        <p:spPr>
          <a:xfrm>
            <a:off x="5605272" y="1554480"/>
            <a:ext cx="1316736" cy="914400"/>
          </a:xfrm>
          <a:prstGeom prst="rect">
            <a:avLst/>
          </a:prstGeom>
          <a:noFill/>
          <a:ln/>
        </p:spPr>
        <p:txBody>
          <a:bodyPr wrap="square" lIns="0" tIns="0" rIns="0" bIns="0" rtlCol="0" anchor="ctr"/>
          <a:lstStyle/>
          <a:p>
            <a:pPr algn="ctr" indent="0" marL="0">
              <a:buNone/>
            </a:pPr>
            <a:r>
              <a:rPr lang="en-US" sz="1400" b="1" dirty="0">
                <a:solidFill>
                  <a:schemeClr val="tx1"/>
                </a:solidFill>
              </a:rPr>
              <a:t>Save file metadata</a:t>
            </a:r>
            <a:endParaRPr lang="en-US" sz="1400" dirty="0"/>
          </a:p>
        </p:txBody>
      </p:sp>
      <p:sp>
        <p:nvSpPr>
          <p:cNvPr id="15" name="Flow 1 arrow 4"/>
          <p:cNvSpPr/>
          <p:nvPr/>
        </p:nvSpPr>
        <p:spPr>
          <a:xfrm>
            <a:off x="7022592" y="2011680"/>
            <a:ext cx="173736" cy="0"/>
          </a:xfrm>
          <a:prstGeom prst="line">
            <a:avLst/>
          </a:prstGeom>
          <a:noFill/>
          <a:ln w="25400">
            <a:solidFill>
              <a:schemeClr val="accent5"/>
            </a:solidFill>
            <a:prstDash val="solid"/>
            <a:tailEnd type="triangle"/>
          </a:ln>
        </p:spPr>
      </p:sp>
      <p:sp>
        <p:nvSpPr>
          <p:cNvPr id="16" name="Flow 1 step 5"/>
          <p:cNvSpPr/>
          <p:nvPr/>
        </p:nvSpPr>
        <p:spPr>
          <a:xfrm>
            <a:off x="7223760" y="1554480"/>
            <a:ext cx="1463040" cy="914400"/>
          </a:xfrm>
          <a:prstGeom prst="roundRect">
            <a:avLst>
              <a:gd name="adj" fmla="val 10000"/>
            </a:avLst>
          </a:prstGeom>
          <a:solidFill>
            <a:schemeClr val="bg2"/>
          </a:solidFill>
          <a:ln w="12700">
            <a:solidFill>
              <a:schemeClr val="bg2"/>
            </a:solidFill>
            <a:prstDash val="solid"/>
          </a:ln>
        </p:spPr>
      </p:sp>
      <p:sp>
        <p:nvSpPr>
          <p:cNvPr id="17" name="Flow 1 step 5 text"/>
          <p:cNvSpPr txBox="1"/>
          <p:nvPr/>
        </p:nvSpPr>
        <p:spPr>
          <a:xfrm>
            <a:off x="7296912" y="1554480"/>
            <a:ext cx="1316736" cy="914400"/>
          </a:xfrm>
          <a:prstGeom prst="rect">
            <a:avLst/>
          </a:prstGeom>
          <a:noFill/>
          <a:ln/>
        </p:spPr>
        <p:txBody>
          <a:bodyPr wrap="square" lIns="0" tIns="0" rIns="0" bIns="0" rtlCol="0" anchor="ctr"/>
          <a:lstStyle/>
          <a:p>
            <a:pPr algn="ctr" indent="0" marL="0">
              <a:buNone/>
            </a:pPr>
            <a:r>
              <a:rPr lang="en-US" sz="1400" b="1" dirty="0">
                <a:solidFill>
                  <a:schemeClr val="tx1"/>
                </a:solidFill>
              </a:rPr>
              <a:t>Confirm to user</a:t>
            </a:r>
            <a:endParaRPr lang="en-US" sz="1400" dirty="0"/>
          </a:p>
        </p:txBody>
      </p:sp>
      <p:sp>
        <p:nvSpPr>
          <p:cNvPr id="18" name="Flow 2 heading"/>
          <p:cNvSpPr txBox="1"/>
          <p:nvPr/>
        </p:nvSpPr>
        <p:spPr>
          <a:xfrm>
            <a:off x="457200" y="2651760"/>
            <a:ext cx="5486400" cy="320040"/>
          </a:xfrm>
          <a:prstGeom prst="rect">
            <a:avLst/>
          </a:prstGeom>
          <a:noFill/>
          <a:ln/>
        </p:spPr>
        <p:txBody>
          <a:bodyPr wrap="square" lIns="0" tIns="0" rIns="0" bIns="0" rtlCol="0" anchor="ctr"/>
          <a:lstStyle/>
          <a:p>
            <a:pPr indent="0" marL="0">
              <a:buNone/>
            </a:pPr>
            <a:r>
              <a:rPr lang="en-US" sz="1800" b="1" dirty="0">
                <a:solidFill>
                  <a:schemeClr val="tx1"/>
                </a:solidFill>
              </a:rPr>
              <a:t>Resume retrieval</a:t>
            </a:r>
            <a:endParaRPr lang="en-US" sz="1800" dirty="0"/>
          </a:p>
        </p:txBody>
      </p:sp>
      <p:sp>
        <p:nvSpPr>
          <p:cNvPr id="19" name="Flow 2 step 1"/>
          <p:cNvSpPr/>
          <p:nvPr/>
        </p:nvSpPr>
        <p:spPr>
          <a:xfrm>
            <a:off x="457200" y="3063240"/>
            <a:ext cx="1463040" cy="914400"/>
          </a:xfrm>
          <a:prstGeom prst="roundRect">
            <a:avLst>
              <a:gd name="adj" fmla="val 10000"/>
            </a:avLst>
          </a:prstGeom>
          <a:solidFill>
            <a:schemeClr val="accent1"/>
          </a:solidFill>
          <a:ln w="12700">
            <a:solidFill>
              <a:schemeClr val="accent1"/>
            </a:solidFill>
            <a:prstDash val="solid"/>
          </a:ln>
        </p:spPr>
      </p:sp>
      <p:sp>
        <p:nvSpPr>
          <p:cNvPr id="20" name="Flow 2 step 1 text"/>
          <p:cNvSpPr txBox="1"/>
          <p:nvPr/>
        </p:nvSpPr>
        <p:spPr>
          <a:xfrm>
            <a:off x="530352" y="3063240"/>
            <a:ext cx="1316736" cy="914400"/>
          </a:xfrm>
          <a:prstGeom prst="rect">
            <a:avLst/>
          </a:prstGeom>
          <a:noFill/>
          <a:ln/>
        </p:spPr>
        <p:txBody>
          <a:bodyPr wrap="square" lIns="0" tIns="0" rIns="0" bIns="0" rtlCol="0" anchor="ctr"/>
          <a:lstStyle/>
          <a:p>
            <a:pPr algn="ctr" indent="0" marL="0">
              <a:buNone/>
            </a:pPr>
            <a:r>
              <a:rPr lang="en-US" sz="1400" b="1" dirty="0">
                <a:solidFill>
                  <a:schemeClr val="tx1"/>
                </a:solidFill>
              </a:rPr>
              <a:t>User requests resume</a:t>
            </a:r>
            <a:endParaRPr lang="en-US" sz="1400" dirty="0"/>
          </a:p>
        </p:txBody>
      </p:sp>
      <p:sp>
        <p:nvSpPr>
          <p:cNvPr id="21" name="Flow 2 arrow 1"/>
          <p:cNvSpPr/>
          <p:nvPr/>
        </p:nvSpPr>
        <p:spPr>
          <a:xfrm>
            <a:off x="1947672" y="3520440"/>
            <a:ext cx="173736" cy="0"/>
          </a:xfrm>
          <a:prstGeom prst="line">
            <a:avLst/>
          </a:prstGeom>
          <a:noFill/>
          <a:ln w="25400">
            <a:solidFill>
              <a:schemeClr val="accent5"/>
            </a:solidFill>
            <a:prstDash val="solid"/>
            <a:tailEnd type="triangle"/>
          </a:ln>
        </p:spPr>
      </p:sp>
      <p:sp>
        <p:nvSpPr>
          <p:cNvPr id="22" name="Flow 2 step 2"/>
          <p:cNvSpPr/>
          <p:nvPr/>
        </p:nvSpPr>
        <p:spPr>
          <a:xfrm>
            <a:off x="2148840" y="3063240"/>
            <a:ext cx="1463040" cy="914400"/>
          </a:xfrm>
          <a:prstGeom prst="roundRect">
            <a:avLst>
              <a:gd name="adj" fmla="val 10000"/>
            </a:avLst>
          </a:prstGeom>
          <a:solidFill>
            <a:schemeClr val="bg2"/>
          </a:solidFill>
          <a:ln w="12700">
            <a:solidFill>
              <a:schemeClr val="bg2"/>
            </a:solidFill>
            <a:prstDash val="solid"/>
          </a:ln>
        </p:spPr>
      </p:sp>
      <p:sp>
        <p:nvSpPr>
          <p:cNvPr id="23" name="Flow 2 step 2 text"/>
          <p:cNvSpPr txBox="1"/>
          <p:nvPr/>
        </p:nvSpPr>
        <p:spPr>
          <a:xfrm>
            <a:off x="2221992" y="3063240"/>
            <a:ext cx="1316736" cy="914400"/>
          </a:xfrm>
          <a:prstGeom prst="rect">
            <a:avLst/>
          </a:prstGeom>
          <a:noFill/>
          <a:ln/>
        </p:spPr>
        <p:txBody>
          <a:bodyPr wrap="square" lIns="0" tIns="0" rIns="0" bIns="0" rtlCol="0" anchor="ctr"/>
          <a:lstStyle/>
          <a:p>
            <a:pPr algn="ctr" indent="0" marL="0">
              <a:buNone/>
            </a:pPr>
            <a:r>
              <a:rPr lang="en-US" sz="1400" b="1" dirty="0">
                <a:solidFill>
                  <a:schemeClr val="tx1"/>
                </a:solidFill>
              </a:rPr>
              <a:t>API Gateway receives it</a:t>
            </a:r>
            <a:endParaRPr lang="en-US" sz="1400" dirty="0"/>
          </a:p>
        </p:txBody>
      </p:sp>
      <p:sp>
        <p:nvSpPr>
          <p:cNvPr id="24" name="Flow 2 arrow 2"/>
          <p:cNvSpPr/>
          <p:nvPr/>
        </p:nvSpPr>
        <p:spPr>
          <a:xfrm>
            <a:off x="3639312" y="3520440"/>
            <a:ext cx="173736" cy="0"/>
          </a:xfrm>
          <a:prstGeom prst="line">
            <a:avLst/>
          </a:prstGeom>
          <a:noFill/>
          <a:ln w="25400">
            <a:solidFill>
              <a:schemeClr val="accent5"/>
            </a:solidFill>
            <a:prstDash val="solid"/>
            <a:tailEnd type="triangle"/>
          </a:ln>
        </p:spPr>
      </p:sp>
      <p:sp>
        <p:nvSpPr>
          <p:cNvPr id="25" name="Flow 2 step 3"/>
          <p:cNvSpPr/>
          <p:nvPr/>
        </p:nvSpPr>
        <p:spPr>
          <a:xfrm>
            <a:off x="3840480" y="3063240"/>
            <a:ext cx="1463040" cy="914400"/>
          </a:xfrm>
          <a:prstGeom prst="roundRect">
            <a:avLst>
              <a:gd name="adj" fmla="val 10000"/>
            </a:avLst>
          </a:prstGeom>
          <a:solidFill>
            <a:schemeClr val="bg2"/>
          </a:solidFill>
          <a:ln w="12700">
            <a:solidFill>
              <a:schemeClr val="bg2"/>
            </a:solidFill>
            <a:prstDash val="solid"/>
          </a:ln>
        </p:spPr>
      </p:sp>
      <p:sp>
        <p:nvSpPr>
          <p:cNvPr id="26" name="Flow 2 step 3 text"/>
          <p:cNvSpPr txBox="1"/>
          <p:nvPr/>
        </p:nvSpPr>
        <p:spPr>
          <a:xfrm>
            <a:off x="3913632" y="3063240"/>
            <a:ext cx="1316736" cy="914400"/>
          </a:xfrm>
          <a:prstGeom prst="rect">
            <a:avLst/>
          </a:prstGeom>
          <a:noFill/>
          <a:ln/>
        </p:spPr>
        <p:txBody>
          <a:bodyPr wrap="square" lIns="0" tIns="0" rIns="0" bIns="0" rtlCol="0" anchor="ctr"/>
          <a:lstStyle/>
          <a:p>
            <a:pPr algn="ctr" indent="0" marL="0">
              <a:buNone/>
            </a:pPr>
            <a:r>
              <a:rPr lang="en-US" sz="1400" b="1" dirty="0">
                <a:solidFill>
                  <a:schemeClr val="tx1"/>
                </a:solidFill>
              </a:rPr>
              <a:t>Lambda checks access</a:t>
            </a:r>
            <a:endParaRPr lang="en-US" sz="1400" dirty="0"/>
          </a:p>
        </p:txBody>
      </p:sp>
      <p:sp>
        <p:nvSpPr>
          <p:cNvPr id="27" name="Flow 2 arrow 3"/>
          <p:cNvSpPr/>
          <p:nvPr/>
        </p:nvSpPr>
        <p:spPr>
          <a:xfrm>
            <a:off x="5330952" y="3520440"/>
            <a:ext cx="173736" cy="0"/>
          </a:xfrm>
          <a:prstGeom prst="line">
            <a:avLst/>
          </a:prstGeom>
          <a:noFill/>
          <a:ln w="25400">
            <a:solidFill>
              <a:schemeClr val="accent5"/>
            </a:solidFill>
            <a:prstDash val="solid"/>
            <a:tailEnd type="triangle"/>
          </a:ln>
        </p:spPr>
      </p:sp>
      <p:sp>
        <p:nvSpPr>
          <p:cNvPr id="28" name="Flow 2 step 4"/>
          <p:cNvSpPr/>
          <p:nvPr/>
        </p:nvSpPr>
        <p:spPr>
          <a:xfrm>
            <a:off x="5532120" y="3063240"/>
            <a:ext cx="1463040" cy="914400"/>
          </a:xfrm>
          <a:prstGeom prst="roundRect">
            <a:avLst>
              <a:gd name="adj" fmla="val 10000"/>
            </a:avLst>
          </a:prstGeom>
          <a:solidFill>
            <a:schemeClr val="bg2"/>
          </a:solidFill>
          <a:ln w="12700">
            <a:solidFill>
              <a:schemeClr val="bg2"/>
            </a:solidFill>
            <a:prstDash val="solid"/>
          </a:ln>
        </p:spPr>
      </p:sp>
      <p:sp>
        <p:nvSpPr>
          <p:cNvPr id="29" name="Flow 2 step 4 text"/>
          <p:cNvSpPr txBox="1"/>
          <p:nvPr/>
        </p:nvSpPr>
        <p:spPr>
          <a:xfrm>
            <a:off x="5605272" y="3063240"/>
            <a:ext cx="1316736" cy="914400"/>
          </a:xfrm>
          <a:prstGeom prst="rect">
            <a:avLst/>
          </a:prstGeom>
          <a:noFill/>
          <a:ln/>
        </p:spPr>
        <p:txBody>
          <a:bodyPr wrap="square" lIns="0" tIns="0" rIns="0" bIns="0" rtlCol="0" anchor="ctr"/>
          <a:lstStyle/>
          <a:p>
            <a:pPr algn="ctr" indent="0" marL="0">
              <a:buNone/>
            </a:pPr>
            <a:r>
              <a:rPr lang="en-US" sz="1400" b="1" dirty="0">
                <a:solidFill>
                  <a:schemeClr val="tx1"/>
                </a:solidFill>
              </a:rPr>
              <a:t>Fetch object from S3</a:t>
            </a:r>
            <a:endParaRPr lang="en-US" sz="1400" dirty="0"/>
          </a:p>
        </p:txBody>
      </p:sp>
      <p:sp>
        <p:nvSpPr>
          <p:cNvPr id="30" name="Flow 2 arrow 4"/>
          <p:cNvSpPr/>
          <p:nvPr/>
        </p:nvSpPr>
        <p:spPr>
          <a:xfrm>
            <a:off x="7022592" y="3520440"/>
            <a:ext cx="173736" cy="0"/>
          </a:xfrm>
          <a:prstGeom prst="line">
            <a:avLst/>
          </a:prstGeom>
          <a:noFill/>
          <a:ln w="25400">
            <a:solidFill>
              <a:schemeClr val="accent5"/>
            </a:solidFill>
            <a:prstDash val="solid"/>
            <a:tailEnd type="triangle"/>
          </a:ln>
        </p:spPr>
      </p:sp>
      <p:sp>
        <p:nvSpPr>
          <p:cNvPr id="31" name="Flow 2 step 5"/>
          <p:cNvSpPr/>
          <p:nvPr/>
        </p:nvSpPr>
        <p:spPr>
          <a:xfrm>
            <a:off x="7223760" y="3063240"/>
            <a:ext cx="1463040" cy="914400"/>
          </a:xfrm>
          <a:prstGeom prst="roundRect">
            <a:avLst>
              <a:gd name="adj" fmla="val 10000"/>
            </a:avLst>
          </a:prstGeom>
          <a:solidFill>
            <a:schemeClr val="bg2"/>
          </a:solidFill>
          <a:ln w="12700">
            <a:solidFill>
              <a:schemeClr val="bg2"/>
            </a:solidFill>
            <a:prstDash val="solid"/>
          </a:ln>
        </p:spPr>
      </p:sp>
      <p:sp>
        <p:nvSpPr>
          <p:cNvPr id="32" name="Flow 2 step 5 text"/>
          <p:cNvSpPr txBox="1"/>
          <p:nvPr/>
        </p:nvSpPr>
        <p:spPr>
          <a:xfrm>
            <a:off x="7296912" y="3063240"/>
            <a:ext cx="1316736" cy="914400"/>
          </a:xfrm>
          <a:prstGeom prst="rect">
            <a:avLst/>
          </a:prstGeom>
          <a:noFill/>
          <a:ln/>
        </p:spPr>
        <p:txBody>
          <a:bodyPr wrap="square" lIns="0" tIns="0" rIns="0" bIns="0" rtlCol="0" anchor="ctr"/>
          <a:lstStyle/>
          <a:p>
            <a:pPr algn="ctr" indent="0" marL="0">
              <a:buNone/>
            </a:pPr>
            <a:r>
              <a:rPr lang="en-US" sz="1400" b="1" dirty="0">
                <a:solidFill>
                  <a:schemeClr val="tx1"/>
                </a:solidFill>
              </a:rPr>
              <a:t>Display to user</a:t>
            </a:r>
            <a:endParaRPr lang="en-US" sz="1400" dirty="0"/>
          </a:p>
        </p:txBody>
      </p:sp>
      <p:sp>
        <p:nvSpPr>
          <p:cNvPr id="33" name="Error note card"/>
          <p:cNvSpPr/>
          <p:nvPr/>
        </p:nvSpPr>
        <p:spPr>
          <a:xfrm>
            <a:off x="457200" y="4114800"/>
            <a:ext cx="8229600" cy="502920"/>
          </a:xfrm>
          <a:prstGeom prst="roundRect">
            <a:avLst>
              <a:gd name="adj" fmla="val 18182"/>
            </a:avLst>
          </a:prstGeom>
          <a:solidFill>
            <a:schemeClr val="accent4"/>
          </a:solidFill>
          <a:ln w="12700">
            <a:solidFill>
              <a:schemeClr val="accent4"/>
            </a:solidFill>
            <a:prstDash val="solid"/>
          </a:ln>
        </p:spPr>
      </p:sp>
      <p:sp>
        <p:nvSpPr>
          <p:cNvPr id="34" name="Error note text"/>
          <p:cNvSpPr txBox="1"/>
          <p:nvPr/>
        </p:nvSpPr>
        <p:spPr>
          <a:xfrm>
            <a:off x="640080" y="4114800"/>
            <a:ext cx="7863840" cy="502920"/>
          </a:xfrm>
          <a:prstGeom prst="rect">
            <a:avLst/>
          </a:prstGeom>
          <a:noFill/>
          <a:ln/>
        </p:spPr>
        <p:txBody>
          <a:bodyPr wrap="square" lIns="0" tIns="0" rIns="0" bIns="0" rtlCol="0" anchor="ctr"/>
          <a:lstStyle/>
          <a:p>
            <a:pPr indent="0" marL="0">
              <a:buNone/>
            </a:pPr>
            <a:r>
              <a:rPr lang="en-US" sz="1400" b="1" dirty="0">
                <a:solidFill>
                  <a:schemeClr val="accent1"/>
                </a:solidFill>
              </a:rPr>
              <a:t>On failure: </a:t>
            </a:r>
            <a:pPr indent="0" marL="0">
              <a:buNone/>
            </a:pPr>
            <a:r>
              <a:rPr lang="en-US" sz="1400" dirty="0">
                <a:solidFill>
                  <a:schemeClr val="bg1"/>
                </a:solidFill>
              </a:rPr>
              <a:t>the user sees a clear error message; stored resumes stay safe in S3</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bg1"/>
                </a:solidFill>
              </a:rPr>
              <a:t>Code Highlights</a:t>
            </a:r>
            <a:endParaRPr lang="en-US" sz="3600" dirty="0"/>
          </a:p>
        </p:txBody>
      </p:sp>
      <p:sp>
        <p:nvSpPr>
          <p:cNvPr id="3" name="Code A heading"/>
          <p:cNvSpPr txBox="1"/>
          <p:nvPr/>
        </p:nvSpPr>
        <p:spPr>
          <a:xfrm>
            <a:off x="457200" y="1097280"/>
            <a:ext cx="4754880" cy="320040"/>
          </a:xfrm>
          <a:prstGeom prst="rect">
            <a:avLst/>
          </a:prstGeom>
          <a:noFill/>
          <a:ln/>
        </p:spPr>
        <p:txBody>
          <a:bodyPr wrap="square" lIns="0" tIns="0" rIns="0" bIns="0" rtlCol="0" anchor="ctr"/>
          <a:lstStyle/>
          <a:p>
            <a:pPr indent="0" marL="0">
              <a:buNone/>
            </a:pPr>
            <a:r>
              <a:rPr lang="en-US" sz="1800" b="1" dirty="0">
                <a:solidFill>
                  <a:schemeClr val="accent1"/>
                </a:solidFill>
              </a:rPr>
              <a:t>Resume retrieval from S3</a:t>
            </a:r>
            <a:endParaRPr lang="en-US" sz="1800" dirty="0"/>
          </a:p>
        </p:txBody>
      </p:sp>
      <p:sp>
        <p:nvSpPr>
          <p:cNvPr id="4" name="Code A caption"/>
          <p:cNvSpPr txBox="1"/>
          <p:nvPr/>
        </p:nvSpPr>
        <p:spPr>
          <a:xfrm>
            <a:off x="457200" y="1417320"/>
            <a:ext cx="4754880" cy="256032"/>
          </a:xfrm>
          <a:prstGeom prst="rect">
            <a:avLst/>
          </a:prstGeom>
          <a:noFill/>
          <a:ln/>
        </p:spPr>
        <p:txBody>
          <a:bodyPr wrap="square" lIns="0" tIns="0" rIns="0" bIns="0" rtlCol="0" anchor="ctr"/>
          <a:lstStyle/>
          <a:p>
            <a:pPr indent="0" marL="0">
              <a:buNone/>
            </a:pPr>
            <a:r>
              <a:rPr lang="en-US" sz="1200" dirty="0">
                <a:solidFill>
                  <a:schemeClr val="accent6"/>
                </a:solidFill>
              </a:rPr>
              <a:t>AWS Lambda (Node.js)</a:t>
            </a:r>
            <a:endParaRPr lang="en-US" sz="1200" dirty="0"/>
          </a:p>
        </p:txBody>
      </p:sp>
      <p:sp>
        <p:nvSpPr>
          <p:cNvPr id="5" name="Code A panel"/>
          <p:cNvSpPr/>
          <p:nvPr/>
        </p:nvSpPr>
        <p:spPr>
          <a:xfrm>
            <a:off x="457200" y="1783080"/>
            <a:ext cx="4754880" cy="2788920"/>
          </a:xfrm>
          <a:prstGeom prst="roundRect">
            <a:avLst>
              <a:gd name="adj" fmla="val 3279"/>
            </a:avLst>
          </a:prstGeom>
          <a:solidFill>
            <a:schemeClr val="accent4"/>
          </a:solidFill>
          <a:ln w="12700">
            <a:solidFill>
              <a:schemeClr val="accent4"/>
            </a:solidFill>
            <a:prstDash val="solid"/>
          </a:ln>
        </p:spPr>
      </p:sp>
      <p:sp>
        <p:nvSpPr>
          <p:cNvPr id="6" name="Code A text"/>
          <p:cNvSpPr txBox="1"/>
          <p:nvPr/>
        </p:nvSpPr>
        <p:spPr>
          <a:xfrm>
            <a:off x="640080" y="1920240"/>
            <a:ext cx="4434840" cy="2560320"/>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exports.handler = async (event) =&gt;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const params =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Bucket: "your-resume-bucket",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Key: "resume.pdf"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try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const data = await s3</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.getObject(params).promise();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return { statusCode: 200,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isBase64Encoded: true,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body: data.Body.toString("base64")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catch (e) { return { statusCode: 500 };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p:txBody>
      </p:sp>
      <p:sp>
        <p:nvSpPr>
          <p:cNvPr id="7" name="Code B panel"/>
          <p:cNvSpPr/>
          <p:nvPr/>
        </p:nvSpPr>
        <p:spPr>
          <a:xfrm>
            <a:off x="5394960" y="1783080"/>
            <a:ext cx="3291840" cy="1325880"/>
          </a:xfrm>
          <a:prstGeom prst="roundRect">
            <a:avLst>
              <a:gd name="adj" fmla="val 6897"/>
            </a:avLst>
          </a:prstGeom>
          <a:solidFill>
            <a:schemeClr val="accent4"/>
          </a:solidFill>
          <a:ln w="12700">
            <a:solidFill>
              <a:schemeClr val="accent4"/>
            </a:solidFill>
            <a:prstDash val="solid"/>
          </a:ln>
        </p:spPr>
      </p:sp>
      <p:sp>
        <p:nvSpPr>
          <p:cNvPr id="8" name="Code B label"/>
          <p:cNvSpPr txBox="1"/>
          <p:nvPr/>
        </p:nvSpPr>
        <p:spPr>
          <a:xfrm>
            <a:off x="5577840" y="1856232"/>
            <a:ext cx="2926080" cy="274320"/>
          </a:xfrm>
          <a:prstGeom prst="rect">
            <a:avLst/>
          </a:prstGeom>
          <a:noFill/>
          <a:ln/>
        </p:spPr>
        <p:txBody>
          <a:bodyPr wrap="square" lIns="0" tIns="0" rIns="0" bIns="0" rtlCol="0" anchor="ctr"/>
          <a:lstStyle/>
          <a:p>
            <a:pPr indent="0" marL="0">
              <a:buNone/>
            </a:pPr>
            <a:r>
              <a:rPr lang="en-US" sz="1200" b="1" dirty="0">
                <a:solidFill>
                  <a:schemeClr val="accent1"/>
                </a:solidFill>
              </a:rPr>
              <a:t>Lambda health check</a:t>
            </a:r>
            <a:endParaRPr lang="en-US" sz="1200" dirty="0"/>
          </a:p>
        </p:txBody>
      </p:sp>
      <p:sp>
        <p:nvSpPr>
          <p:cNvPr id="9" name="Code B text"/>
          <p:cNvSpPr txBox="1"/>
          <p:nvPr/>
        </p:nvSpPr>
        <p:spPr>
          <a:xfrm>
            <a:off x="5577840" y="2148840"/>
            <a:ext cx="3017520" cy="914400"/>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exports.handler = async () =&gt;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statusCode: 200,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body: JSON.stringify({</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status: "Success"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p:txBody>
      </p:sp>
      <p:sp>
        <p:nvSpPr>
          <p:cNvPr id="10" name="Code C panel"/>
          <p:cNvSpPr/>
          <p:nvPr/>
        </p:nvSpPr>
        <p:spPr>
          <a:xfrm>
            <a:off x="5394960" y="3246120"/>
            <a:ext cx="3291840" cy="1325880"/>
          </a:xfrm>
          <a:prstGeom prst="roundRect">
            <a:avLst>
              <a:gd name="adj" fmla="val 6897"/>
            </a:avLst>
          </a:prstGeom>
          <a:solidFill>
            <a:schemeClr val="accent4"/>
          </a:solidFill>
          <a:ln w="12700">
            <a:solidFill>
              <a:schemeClr val="accent4"/>
            </a:solidFill>
            <a:prstDash val="solid"/>
          </a:ln>
        </p:spPr>
      </p:sp>
      <p:sp>
        <p:nvSpPr>
          <p:cNvPr id="11" name="Code C label"/>
          <p:cNvSpPr txBox="1"/>
          <p:nvPr/>
        </p:nvSpPr>
        <p:spPr>
          <a:xfrm>
            <a:off x="5577840" y="3319272"/>
            <a:ext cx="2926080" cy="274320"/>
          </a:xfrm>
          <a:prstGeom prst="rect">
            <a:avLst/>
          </a:prstGeom>
          <a:noFill/>
          <a:ln/>
        </p:spPr>
        <p:txBody>
          <a:bodyPr wrap="square" lIns="0" tIns="0" rIns="0" bIns="0" rtlCol="0" anchor="ctr"/>
          <a:lstStyle/>
          <a:p>
            <a:pPr indent="0" marL="0">
              <a:buNone/>
            </a:pPr>
            <a:r>
              <a:rPr lang="en-US" sz="1200" b="1" dirty="0">
                <a:solidFill>
                  <a:schemeClr val="accent1"/>
                </a:solidFill>
              </a:rPr>
              <a:t>Frontend API call</a:t>
            </a:r>
            <a:endParaRPr lang="en-US" sz="1200" dirty="0"/>
          </a:p>
        </p:txBody>
      </p:sp>
      <p:sp>
        <p:nvSpPr>
          <p:cNvPr id="12" name="Code C text"/>
          <p:cNvSpPr txBox="1"/>
          <p:nvPr/>
        </p:nvSpPr>
        <p:spPr>
          <a:xfrm>
            <a:off x="5577840" y="3611880"/>
            <a:ext cx="3017520" cy="822960"/>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async function getResume()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const r = await fetch(url);</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const data = await r.json();</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Sample Output</a:t>
            </a:r>
            <a:endParaRPr lang="en-US" sz="3600" dirty="0"/>
          </a:p>
        </p:txBody>
      </p:sp>
      <p:pic>
        <p:nvPicPr>
          <p:cNvPr id="3" name="Output screenshots" descr="Screenshots of the resume website pages and the AWS deployment dashboard">    </p:cNvPr>
          <p:cNvPicPr>
            <a:picLocks noChangeAspect="1"/>
          </p:cNvPicPr>
          <p:nvPr/>
        </p:nvPicPr>
        <p:blipFill>
          <a:blip r:embed="rId1"/>
          <a:stretch>
            <a:fillRect/>
          </a:stretch>
        </p:blipFill>
        <p:spPr>
          <a:xfrm>
            <a:off x="457200" y="1188720"/>
            <a:ext cx="4937760" cy="3305994"/>
          </a:xfrm>
          <a:prstGeom prst="rect">
            <a:avLst/>
          </a:prstGeom>
        </p:spPr>
      </p:pic>
      <p:sp>
        <p:nvSpPr>
          <p:cNvPr id="4" name="Output list card"/>
          <p:cNvSpPr/>
          <p:nvPr/>
        </p:nvSpPr>
        <p:spPr>
          <a:xfrm>
            <a:off x="5669280" y="1188720"/>
            <a:ext cx="3017520" cy="3310128"/>
          </a:xfrm>
          <a:prstGeom prst="roundRect">
            <a:avLst>
              <a:gd name="adj" fmla="val 3030"/>
            </a:avLst>
          </a:prstGeom>
          <a:solidFill>
            <a:schemeClr val="bg2"/>
          </a:solidFill>
          <a:ln w="12700">
            <a:solidFill>
              <a:schemeClr val="bg2"/>
            </a:solidFill>
            <a:prstDash val="solid"/>
          </a:ln>
        </p:spPr>
      </p:sp>
      <p:sp>
        <p:nvSpPr>
          <p:cNvPr id="5" name="Output list"/>
          <p:cNvSpPr txBox="1"/>
          <p:nvPr/>
        </p:nvSpPr>
        <p:spPr>
          <a:xfrm>
            <a:off x="5852160" y="1325880"/>
            <a:ext cx="2697480" cy="306324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400" dirty="0">
                <a:solidFill>
                  <a:schemeClr val="tx1"/>
                </a:solidFill>
              </a:rPr>
              <a:t>Home page with name and role</a:t>
            </a:r>
            <a:endParaRPr lang="en-US" sz="1400" dirty="0"/>
          </a:p>
          <a:p>
            <a:pPr marL="342900" indent="-342900">
              <a:spcAft>
                <a:spcPts val="600"/>
              </a:spcAft>
              <a:buSzPct val="100000"/>
              <a:buFont typeface="+mj-lt"/>
              <a:buAutoNum type="arabicPeriod" startAt="1"/>
            </a:pPr>
            <a:r>
              <a:rPr lang="en-US" sz="1400" dirty="0">
                <a:solidFill>
                  <a:schemeClr val="tx1"/>
                </a:solidFill>
              </a:rPr>
              <a:t>Resume page with PDF download</a:t>
            </a:r>
            <a:endParaRPr lang="en-US" sz="1400" dirty="0"/>
          </a:p>
          <a:p>
            <a:pPr marL="342900" indent="-342900">
              <a:spcAft>
                <a:spcPts val="600"/>
              </a:spcAft>
              <a:buSzPct val="100000"/>
              <a:buFont typeface="+mj-lt"/>
              <a:buAutoNum type="arabicPeriod" startAt="1"/>
            </a:pPr>
            <a:r>
              <a:rPr lang="en-US" sz="1400" dirty="0">
                <a:solidFill>
                  <a:schemeClr val="tx1"/>
                </a:solidFill>
              </a:rPr>
              <a:t>Skills grid for AWS and web tools</a:t>
            </a:r>
            <a:endParaRPr lang="en-US" sz="1400" dirty="0"/>
          </a:p>
          <a:p>
            <a:pPr marL="342900" indent="-342900">
              <a:spcAft>
                <a:spcPts val="600"/>
              </a:spcAft>
              <a:buSzPct val="100000"/>
              <a:buFont typeface="+mj-lt"/>
              <a:buAutoNum type="arabicPeriod" startAt="1"/>
            </a:pPr>
            <a:r>
              <a:rPr lang="en-US" sz="1400" dirty="0">
                <a:solidFill>
                  <a:schemeClr val="tx1"/>
                </a:solidFill>
              </a:rPr>
              <a:t>Projects section</a:t>
            </a:r>
            <a:endParaRPr lang="en-US" sz="1400" dirty="0"/>
          </a:p>
          <a:p>
            <a:pPr marL="342900" indent="-342900">
              <a:spcAft>
                <a:spcPts val="600"/>
              </a:spcAft>
              <a:buSzPct val="100000"/>
              <a:buFont typeface="+mj-lt"/>
              <a:buAutoNum type="arabicPeriod" startAt="1"/>
            </a:pPr>
            <a:r>
              <a:rPr lang="en-US" sz="1400" dirty="0">
                <a:solidFill>
                  <a:schemeClr val="tx1"/>
                </a:solidFill>
              </a:rPr>
              <a:t>Visitor counter backed by DynamoDB</a:t>
            </a:r>
            <a:endParaRPr lang="en-US" sz="1400" dirty="0"/>
          </a:p>
          <a:p>
            <a:pPr marL="342900" indent="-342900">
              <a:spcAft>
                <a:spcPts val="600"/>
              </a:spcAft>
              <a:buSzPct val="100000"/>
              <a:buFont typeface="+mj-lt"/>
              <a:buAutoNum type="arabicPeriod" startAt="1"/>
            </a:pPr>
            <a:r>
              <a:rPr lang="en-US" sz="1400" dirty="0">
                <a:solidFill>
                  <a:schemeClr val="tx1"/>
                </a:solidFill>
              </a:rPr>
              <a:t>Contact form</a:t>
            </a:r>
            <a:endParaRPr lang="en-US" sz="1400" dirty="0"/>
          </a:p>
          <a:p>
            <a:pPr marL="342900" indent="-342900">
              <a:spcAft>
                <a:spcPts val="600"/>
              </a:spcAft>
              <a:buSzPct val="100000"/>
              <a:buFont typeface="+mj-lt"/>
              <a:buAutoNum type="arabicPeriod" startAt="1"/>
            </a:pPr>
            <a:r>
              <a:rPr lang="en-US" sz="1400" dirty="0">
                <a:solidFill>
                  <a:schemeClr val="tx1"/>
                </a:solidFill>
              </a:rPr>
              <a:t>AWS console: S3, CloudFront, Lambda, DynamoDB</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bg1"/>
                </a:solidFill>
              </a:rPr>
              <a:t>Analysis, Conclusion &amp; Future Work</a:t>
            </a:r>
            <a:endParaRPr lang="en-US" sz="3600" dirty="0"/>
          </a:p>
        </p:txBody>
      </p:sp>
      <p:sp>
        <p:nvSpPr>
          <p:cNvPr id="3" name="Analysis panel"/>
          <p:cNvSpPr/>
          <p:nvPr/>
        </p:nvSpPr>
        <p:spPr>
          <a:xfrm>
            <a:off x="457200" y="1188720"/>
            <a:ext cx="2651760" cy="3017520"/>
          </a:xfrm>
          <a:prstGeom prst="roundRect">
            <a:avLst>
              <a:gd name="adj" fmla="val 3448"/>
            </a:avLst>
          </a:prstGeom>
          <a:solidFill>
            <a:schemeClr val="accent4"/>
          </a:solidFill>
          <a:ln w="12700">
            <a:solidFill>
              <a:schemeClr val="accent4"/>
            </a:solidFill>
            <a:prstDash val="solid"/>
          </a:ln>
        </p:spPr>
      </p:sp>
      <p:sp>
        <p:nvSpPr>
          <p:cNvPr id="4" name="Analysis heading"/>
          <p:cNvSpPr txBox="1"/>
          <p:nvPr/>
        </p:nvSpPr>
        <p:spPr>
          <a:xfrm>
            <a:off x="685800" y="1325880"/>
            <a:ext cx="2194560" cy="365760"/>
          </a:xfrm>
          <a:prstGeom prst="rect">
            <a:avLst/>
          </a:prstGeom>
          <a:noFill/>
          <a:ln/>
        </p:spPr>
        <p:txBody>
          <a:bodyPr wrap="square" lIns="0" tIns="0" rIns="0" bIns="0" rtlCol="0" anchor="ctr"/>
          <a:lstStyle/>
          <a:p>
            <a:pPr indent="0" marL="0">
              <a:buNone/>
            </a:pPr>
            <a:r>
              <a:rPr lang="en-US" sz="2000" b="1" dirty="0">
                <a:solidFill>
                  <a:schemeClr val="accent1"/>
                </a:solidFill>
              </a:rPr>
              <a:t>Analysis</a:t>
            </a:r>
            <a:endParaRPr lang="en-US" sz="2000" dirty="0"/>
          </a:p>
        </p:txBody>
      </p:sp>
      <p:sp>
        <p:nvSpPr>
          <p:cNvPr id="5" name="Analysis list"/>
          <p:cNvSpPr txBox="1"/>
          <p:nvPr/>
        </p:nvSpPr>
        <p:spPr>
          <a:xfrm>
            <a:off x="685800" y="1828800"/>
            <a:ext cx="224028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Storage: S3 holds resumes and site files</a:t>
            </a:r>
            <a:endParaRPr lang="en-US" sz="1400" dirty="0"/>
          </a:p>
          <a:p>
            <a:pPr marL="342900" indent="-342900">
              <a:spcAft>
                <a:spcPts val="600"/>
              </a:spcAft>
              <a:buSzPct val="100000"/>
              <a:buChar char="•"/>
            </a:pPr>
            <a:r>
              <a:rPr lang="en-US" sz="1400" dirty="0">
                <a:solidFill>
                  <a:schemeClr val="bg1"/>
                </a:solidFill>
              </a:rPr>
              <a:t>Compute: Lambda scales on demand</a:t>
            </a:r>
            <a:endParaRPr lang="en-US" sz="1400" dirty="0"/>
          </a:p>
          <a:p>
            <a:pPr marL="342900" indent="-342900">
              <a:spcAft>
                <a:spcPts val="600"/>
              </a:spcAft>
              <a:buSzPct val="100000"/>
              <a:buChar char="•"/>
            </a:pPr>
            <a:r>
              <a:rPr lang="en-US" sz="1400" dirty="0">
                <a:solidFill>
                  <a:schemeClr val="bg1"/>
                </a:solidFill>
              </a:rPr>
              <a:t>Security: IAM with least privilege</a:t>
            </a:r>
            <a:endParaRPr lang="en-US" sz="1400" dirty="0"/>
          </a:p>
          <a:p>
            <a:pPr marL="342900" indent="-342900">
              <a:spcAft>
                <a:spcPts val="600"/>
              </a:spcAft>
              <a:buSzPct val="100000"/>
              <a:buChar char="•"/>
            </a:pPr>
            <a:r>
              <a:rPr lang="en-US" sz="1400" dirty="0">
                <a:solidFill>
                  <a:schemeClr val="bg1"/>
                </a:solidFill>
              </a:rPr>
              <a:t>Cost: pay per use, monitor usage</a:t>
            </a:r>
            <a:endParaRPr lang="en-US" sz="1400" dirty="0"/>
          </a:p>
        </p:txBody>
      </p:sp>
      <p:sp>
        <p:nvSpPr>
          <p:cNvPr id="6" name="Conclusion panel"/>
          <p:cNvSpPr/>
          <p:nvPr/>
        </p:nvSpPr>
        <p:spPr>
          <a:xfrm>
            <a:off x="3246120" y="1188720"/>
            <a:ext cx="2651760" cy="3017520"/>
          </a:xfrm>
          <a:prstGeom prst="roundRect">
            <a:avLst>
              <a:gd name="adj" fmla="val 3448"/>
            </a:avLst>
          </a:prstGeom>
          <a:solidFill>
            <a:schemeClr val="accent1"/>
          </a:solidFill>
          <a:ln w="12700">
            <a:solidFill>
              <a:schemeClr val="accent1"/>
            </a:solidFill>
            <a:prstDash val="solid"/>
          </a:ln>
        </p:spPr>
      </p:sp>
      <p:sp>
        <p:nvSpPr>
          <p:cNvPr id="7" name="Conclusion heading"/>
          <p:cNvSpPr txBox="1"/>
          <p:nvPr/>
        </p:nvSpPr>
        <p:spPr>
          <a:xfrm>
            <a:off x="3474720" y="1325880"/>
            <a:ext cx="2194560" cy="365760"/>
          </a:xfrm>
          <a:prstGeom prst="rect">
            <a:avLst/>
          </a:prstGeom>
          <a:noFill/>
          <a:ln/>
        </p:spPr>
        <p:txBody>
          <a:bodyPr wrap="square" lIns="0" tIns="0" rIns="0" bIns="0" rtlCol="0" anchor="ctr"/>
          <a:lstStyle/>
          <a:p>
            <a:pPr indent="0" marL="0">
              <a:buNone/>
            </a:pPr>
            <a:r>
              <a:rPr lang="en-US" sz="2000" b="1" dirty="0">
                <a:solidFill>
                  <a:schemeClr val="tx1"/>
                </a:solidFill>
              </a:rPr>
              <a:t>Conclusion</a:t>
            </a:r>
            <a:endParaRPr lang="en-US" sz="2000" dirty="0"/>
          </a:p>
        </p:txBody>
      </p:sp>
      <p:sp>
        <p:nvSpPr>
          <p:cNvPr id="8" name="Conclusion list"/>
          <p:cNvSpPr txBox="1"/>
          <p:nvPr/>
        </p:nvSpPr>
        <p:spPr>
          <a:xfrm>
            <a:off x="3474720" y="1828800"/>
            <a:ext cx="224028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30 days covering AWS, serverless and deployment</a:t>
            </a:r>
            <a:endParaRPr lang="en-US" sz="1400" dirty="0"/>
          </a:p>
          <a:p>
            <a:pPr marL="342900" indent="-342900">
              <a:spcAft>
                <a:spcPts val="600"/>
              </a:spcAft>
              <a:buSzPct val="100000"/>
              <a:buChar char="•"/>
            </a:pPr>
            <a:r>
              <a:rPr lang="en-US" sz="1400" dirty="0">
                <a:solidFill>
                  <a:schemeClr val="tx1"/>
                </a:solidFill>
              </a:rPr>
              <a:t>Hands-on S3, Lambda, API Gateway and IAM</a:t>
            </a:r>
            <a:endParaRPr lang="en-US" sz="1400" dirty="0"/>
          </a:p>
          <a:p>
            <a:pPr marL="342900" indent="-342900">
              <a:spcAft>
                <a:spcPts val="600"/>
              </a:spcAft>
              <a:buSzPct val="100000"/>
              <a:buChar char="•"/>
            </a:pPr>
            <a:r>
              <a:rPr lang="en-US" sz="1400" dirty="0">
                <a:solidFill>
                  <a:schemeClr val="tx1"/>
                </a:solidFill>
              </a:rPr>
              <a:t>Better prepared for cloud roles</a:t>
            </a:r>
            <a:endParaRPr lang="en-US" sz="1400" dirty="0"/>
          </a:p>
        </p:txBody>
      </p:sp>
      <p:sp>
        <p:nvSpPr>
          <p:cNvPr id="9" name="Future work panel"/>
          <p:cNvSpPr/>
          <p:nvPr/>
        </p:nvSpPr>
        <p:spPr>
          <a:xfrm>
            <a:off x="6035040" y="1188720"/>
            <a:ext cx="2651760" cy="3017520"/>
          </a:xfrm>
          <a:prstGeom prst="roundRect">
            <a:avLst>
              <a:gd name="adj" fmla="val 3448"/>
            </a:avLst>
          </a:prstGeom>
          <a:solidFill>
            <a:schemeClr val="accent4"/>
          </a:solidFill>
          <a:ln w="12700">
            <a:solidFill>
              <a:schemeClr val="accent4"/>
            </a:solidFill>
            <a:prstDash val="solid"/>
          </a:ln>
        </p:spPr>
      </p:sp>
      <p:sp>
        <p:nvSpPr>
          <p:cNvPr id="10" name="Future work heading"/>
          <p:cNvSpPr txBox="1"/>
          <p:nvPr/>
        </p:nvSpPr>
        <p:spPr>
          <a:xfrm>
            <a:off x="6263640" y="1325880"/>
            <a:ext cx="2194560" cy="365760"/>
          </a:xfrm>
          <a:prstGeom prst="rect">
            <a:avLst/>
          </a:prstGeom>
          <a:noFill/>
          <a:ln/>
        </p:spPr>
        <p:txBody>
          <a:bodyPr wrap="square" lIns="0" tIns="0" rIns="0" bIns="0" rtlCol="0" anchor="ctr"/>
          <a:lstStyle/>
          <a:p>
            <a:pPr indent="0" marL="0">
              <a:buNone/>
            </a:pPr>
            <a:r>
              <a:rPr lang="en-US" sz="2000" b="1" dirty="0">
                <a:solidFill>
                  <a:schemeClr val="accent1"/>
                </a:solidFill>
              </a:rPr>
              <a:t>Future work</a:t>
            </a:r>
            <a:endParaRPr lang="en-US" sz="2000" dirty="0"/>
          </a:p>
        </p:txBody>
      </p:sp>
      <p:sp>
        <p:nvSpPr>
          <p:cNvPr id="11" name="Future work list"/>
          <p:cNvSpPr txBox="1"/>
          <p:nvPr/>
        </p:nvSpPr>
        <p:spPr>
          <a:xfrm>
            <a:off x="6263640" y="1828800"/>
            <a:ext cx="224028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Two-factor authentication</a:t>
            </a:r>
            <a:endParaRPr lang="en-US" sz="1400" dirty="0"/>
          </a:p>
          <a:p>
            <a:pPr marL="342900" indent="-342900">
              <a:spcAft>
                <a:spcPts val="600"/>
              </a:spcAft>
              <a:buSzPct val="100000"/>
              <a:buChar char="•"/>
            </a:pPr>
            <a:r>
              <a:rPr lang="en-US" sz="1400" dirty="0">
                <a:solidFill>
                  <a:schemeClr val="bg1"/>
                </a:solidFill>
              </a:rPr>
              <a:t>Role-based access control</a:t>
            </a:r>
            <a:endParaRPr lang="en-US" sz="1400" dirty="0"/>
          </a:p>
          <a:p>
            <a:pPr marL="342900" indent="-342900">
              <a:spcAft>
                <a:spcPts val="600"/>
              </a:spcAft>
              <a:buSzPct val="100000"/>
              <a:buChar char="•"/>
            </a:pPr>
            <a:r>
              <a:rPr lang="en-US" sz="1400" dirty="0">
                <a:solidFill>
                  <a:schemeClr val="bg1"/>
                </a:solidFill>
              </a:rPr>
              <a:t>Real-time audit logs</a:t>
            </a:r>
            <a:endParaRPr lang="en-US" sz="1400" dirty="0"/>
          </a:p>
          <a:p>
            <a:pPr marL="342900" indent="-342900">
              <a:spcAft>
                <a:spcPts val="600"/>
              </a:spcAft>
              <a:buSzPct val="100000"/>
              <a:buChar char="•"/>
            </a:pPr>
            <a:r>
              <a:rPr lang="en-US" sz="1400" dirty="0">
                <a:solidFill>
                  <a:schemeClr val="bg1"/>
                </a:solidFill>
              </a:rPr>
              <a:t>AI anomaly detection and automatic backup</a:t>
            </a:r>
            <a:endParaRPr lang="en-US" sz="1400" dirty="0"/>
          </a:p>
        </p:txBody>
      </p:sp>
      <p:sp>
        <p:nvSpPr>
          <p:cNvPr id="12" name="Thank you"/>
          <p:cNvSpPr txBox="1"/>
          <p:nvPr/>
        </p:nvSpPr>
        <p:spPr>
          <a:xfrm>
            <a:off x="457200" y="4370832"/>
            <a:ext cx="3657600" cy="365760"/>
          </a:xfrm>
          <a:prstGeom prst="rect">
            <a:avLst/>
          </a:prstGeom>
          <a:noFill/>
          <a:ln/>
        </p:spPr>
        <p:txBody>
          <a:bodyPr wrap="square" lIns="0" tIns="0" rIns="0" bIns="0" rtlCol="0" anchor="ctr"/>
          <a:lstStyle/>
          <a:p>
            <a:pPr indent="0" marL="0">
              <a:buNone/>
            </a:pPr>
            <a:r>
              <a:rPr lang="en-US" sz="1800" b="1" dirty="0">
                <a:solidFill>
                  <a:schemeClr val="accent1"/>
                </a:solidFill>
              </a:rPr>
              <a:t>Thank you</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ServerlessResume">
  <a:themeElements>
    <a:clrScheme name="ServerlessResume">
      <a:dk1>
        <a:srgbClr val="1B2431"/>
      </a:dk1>
      <a:lt1>
        <a:srgbClr val="FFFFFF"/>
      </a:lt1>
      <a:dk2>
        <a:srgbClr val="232F3E"/>
      </a:dk2>
      <a:lt2>
        <a:srgbClr val="EEF1F5"/>
      </a:lt2>
      <a:accent1>
        <a:srgbClr val="FF9900"/>
      </a:accent1>
      <a:accent2>
        <a:srgbClr val="1F7A8C"/>
      </a:accent2>
      <a:accent3>
        <a:srgbClr val="2E9E6B"/>
      </a:accent3>
      <a:accent4>
        <a:srgbClr val="232F3E"/>
      </a:accent4>
      <a:accent5>
        <a:srgbClr val="5B6675"/>
      </a:accent5>
      <a:accent6>
        <a:srgbClr val="D5DBE3"/>
      </a:accent6>
      <a:hlink>
        <a:srgbClr val="1F7A8C"/>
      </a:hlink>
      <a:folHlink>
        <a:srgbClr val="5B6675"/>
      </a:folHlink>
    </a:clrScheme>
    <a:fontScheme name="ServerlessResum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Serverless Resume Hosting System on AWS</dc:title>
  <dc:subject>PptxGenJS Presentation</dc:subject>
  <dc:creator>Janaranjani M</dc:creator>
  <cp:lastModifiedBy>Janaranjani M</cp:lastModifiedBy>
  <cp:revision>1</cp:revision>
  <dcterms:created xsi:type="dcterms:W3CDTF">2026-10-22T04:17:25Z</dcterms:created>
  <dcterms:modified xsi:type="dcterms:W3CDTF">2026-10-22T04:17:25Z</dcterms:modified>
</cp:coreProperties>
</file>